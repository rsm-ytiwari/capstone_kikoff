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Executive summary of the Kikoff Marketing Mix Model capstone — built by the UC San Diego Rady MSBA team. Six slides covering problem, approach, what we built, current findings, and path to final delivery.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Kikoff spends roughly $112M annually across more than ten marketing channels. Current attribution relies on last-touch and platform-reported numbers — both of which overclaim. The operational signal that gave the team conviction this matters: every time Meta spend is pulled back, growth slows within a week, yet platform dashboards don't show that swing. Closing that gap is what the model exists to do.</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methodological commitments anchor the model. First, Bayesian — we need full posterior uncertainty per channel, not a point estimate, because most channels will end up at medium or low trust. Second, full-channel scope — modeling a subset would absorb other channels' effects into included channels' coefficients. Third, dual DV — conversions and 3-year LTV carry different decisioning signals, so we fit both in parallel. PyMC-Marketing won the framework evaluation on flexibility, native lift integration, and a clean fallback path.</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Phase 2 execution. The model is fit and the dashboard is live. Both models — Conversions and 3-year LTV — run on all 19 channels at weekly granularity across 93 weeks. Seven lift tests are integrated as windowed priors, applying only within each test's own date range. The saturation curve shown on the right is the kind of output the client uses for budget decisioning — spend on the X-axis, incremental CAC on the Y-axis, posterior band shaded, and a vertical line marking current weekly spend. This is one of eight chart types live in the Streamlit dashboard, hosted at the URL shown — updates automatically as the model is recalibrated and new outputs are pushed.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Three-row read on current state. First, what's validated: the client signed off on the saturation curve shape and on the 8-column decisioning template, both reviewed live in the dashboard walkthrough. Second, what's calibrating: lift-test sigmas on Meta and TikTok are moving from an initial heuristic to Conversion Lift Study standards, which will tighten posterior contributions for those channels; CTV's sigma stays wider because its CSV provides a true confidence interval. Benchmark comparisons are also shifting from full-history aggregates to test-window-specific reads, since that's where the lift test's truth applies. Third, what's next: roll the validated output set out across all channels and start the seasonal-scenario work. Every chart referenced is live on the dashboard URL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read. Phase 1 — data foundation and framework selection — is complete. Phase 2 — model build, dashboard, decisioning template — is in flight and validated in form. Three workstreams remain between now and June 6: calibration (tightening lift-test priors and re-fitting), replication (rolling the validated output set across all 19 channel x platform combinations), and scenario planning plus handoff. The model architecture is locked, the deliverable shape is locked, and the path to the final presentation is concrete.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hyperlink" Target="https://capstonekikoff-cni9u6vowxfcgwy8ddmbtw.streamlit.app/" TargetMode="Externa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6.png"/><Relationship Id="rId4" Type="http://schemas.openxmlformats.org/officeDocument/2006/relationships/hyperlink" Target="https://capstonekikoff-cni9u6vowxfcgwy8ddmbtw.streamlit.app/" TargetMode="Externa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ain_background.png"/>
          <p:cNvPicPr>
            <a:picLocks noChangeAspect="1"/>
          </p:cNvPicPr>
          <p:nvPr/>
        </p:nvPicPr>
        <p:blipFill>
          <a:blip r:embed="rId2"/>
          <a:stretch>
            <a:fillRect/>
          </a:stretch>
        </p:blipFill>
        <p:spPr>
          <a:xfrm>
            <a:off x="0" y="0"/>
            <a:ext cx="12191695" cy="6858000"/>
          </a:xfrm>
          <a:prstGeom prst="rect">
            <a:avLst/>
          </a:prstGeom>
        </p:spPr>
      </p:pic>
      <p:sp>
        <p:nvSpPr>
          <p:cNvPr id="3" name="TextBox 2"/>
          <p:cNvSpPr txBox="1"/>
          <p:nvPr/>
        </p:nvSpPr>
        <p:spPr>
          <a:xfrm>
            <a:off x="914400" y="1828800"/>
            <a:ext cx="8686800" cy="1828800"/>
          </a:xfrm>
          <a:prstGeom prst="rect">
            <a:avLst/>
          </a:prstGeom>
          <a:noFill/>
        </p:spPr>
        <p:txBody>
          <a:bodyPr wrap="square">
            <a:spAutoFit/>
          </a:bodyPr>
          <a:lstStyle/>
          <a:p>
            <a:pPr algn="l"/>
            <a:r>
              <a:rPr sz="3400" b="1" i="0">
                <a:solidFill>
                  <a:srgbClr val="FFFFFF"/>
                </a:solidFill>
                <a:latin typeface="Calibri"/>
              </a:rPr>
              <a:t>Measuring What Actually Drives
Kikoff's Growth</a:t>
            </a:r>
          </a:p>
        </p:txBody>
      </p:sp>
      <p:sp>
        <p:nvSpPr>
          <p:cNvPr id="4" name="TextBox 3"/>
          <p:cNvSpPr txBox="1"/>
          <p:nvPr/>
        </p:nvSpPr>
        <p:spPr>
          <a:xfrm>
            <a:off x="914400" y="3749039"/>
            <a:ext cx="8686800" cy="640080"/>
          </a:xfrm>
          <a:prstGeom prst="rect">
            <a:avLst/>
          </a:prstGeom>
          <a:noFill/>
        </p:spPr>
        <p:txBody>
          <a:bodyPr wrap="square">
            <a:spAutoFit/>
          </a:bodyPr>
          <a:lstStyle/>
          <a:p>
            <a:pPr algn="l"/>
            <a:r>
              <a:rPr sz="2000" b="0" i="0">
                <a:solidFill>
                  <a:srgbClr val="FFCC00"/>
                </a:solidFill>
                <a:latin typeface="Calibri"/>
              </a:rPr>
              <a:t>UC San Diego Rady MSBA — Capstone 2026  ·  Executive Summary</a:t>
            </a:r>
          </a:p>
        </p:txBody>
      </p:sp>
      <p:sp>
        <p:nvSpPr>
          <p:cNvPr id="5" name="TextBox 4"/>
          <p:cNvSpPr txBox="1"/>
          <p:nvPr/>
        </p:nvSpPr>
        <p:spPr>
          <a:xfrm>
            <a:off x="914400" y="4480560"/>
            <a:ext cx="8686800" cy="1645920"/>
          </a:xfrm>
          <a:prstGeom prst="rect">
            <a:avLst/>
          </a:prstGeom>
          <a:noFill/>
        </p:spPr>
        <p:txBody>
          <a:bodyPr wrap="square">
            <a:spAutoFit/>
          </a:bodyPr>
          <a:lstStyle/>
          <a:p>
            <a:pPr algn="l"/>
            <a:r>
              <a:rPr sz="1600" b="0" i="0">
                <a:solidFill>
                  <a:srgbClr val="FFFFFF"/>
                </a:solidFill>
                <a:latin typeface="Calibri"/>
              </a:rPr>
              <a:t>Yash Tiwari  ·  Chunjiang Liu  ·  Shivang Bhatt  ·  Yoko He
May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2</a:t>
            </a:r>
          </a:p>
        </p:txBody>
      </p:sp>
      <p:sp>
        <p:nvSpPr>
          <p:cNvPr id="5" name="TextBox 4"/>
          <p:cNvSpPr txBox="1"/>
          <p:nvPr/>
        </p:nvSpPr>
        <p:spPr>
          <a:xfrm>
            <a:off x="457200" y="795528"/>
            <a:ext cx="11247120" cy="594360"/>
          </a:xfrm>
          <a:prstGeom prst="rect">
            <a:avLst/>
          </a:prstGeom>
          <a:noFill/>
        </p:spPr>
        <p:txBody>
          <a:bodyPr wrap="square">
            <a:spAutoFit/>
          </a:bodyPr>
          <a:lstStyle/>
          <a:p>
            <a:pPr algn="l"/>
            <a:r>
              <a:rPr sz="2100" b="1" i="0">
                <a:solidFill>
                  <a:srgbClr val="182B48"/>
                </a:solidFill>
                <a:latin typeface="Calibri"/>
              </a:rPr>
              <a:t>Platform Attribution Costs Kikoff Precision on $112M in Annual Spend</a:t>
            </a:r>
          </a:p>
        </p:txBody>
      </p:sp>
      <p:sp>
        <p:nvSpPr>
          <p:cNvPr id="6" name="Rectangle 5"/>
          <p:cNvSpPr/>
          <p:nvPr/>
        </p:nvSpPr>
        <p:spPr>
          <a:xfrm>
            <a:off x="347472" y="1481328"/>
            <a:ext cx="3584448" cy="4846320"/>
          </a:xfrm>
          <a:prstGeom prst="rect">
            <a:avLst/>
          </a:prstGeom>
          <a:solidFill>
            <a:srgbClr val="E3F2FD"/>
          </a:solidFill>
          <a:ln>
            <a:solidFill>
              <a:srgbClr val="E3F2F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47472" y="1481328"/>
            <a:ext cx="3584448" cy="512064"/>
          </a:xfrm>
          <a:prstGeom prst="rect">
            <a:avLst/>
          </a:prstGeom>
          <a:solidFill>
            <a:srgbClr val="1565C0"/>
          </a:solidFill>
          <a:ln>
            <a:solidFill>
              <a:srgbClr val="1565C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93776" y="1581912"/>
            <a:ext cx="3346704" cy="402336"/>
          </a:xfrm>
          <a:prstGeom prst="rect">
            <a:avLst/>
          </a:prstGeom>
          <a:noFill/>
        </p:spPr>
        <p:txBody>
          <a:bodyPr wrap="square">
            <a:spAutoFit/>
          </a:bodyPr>
          <a:lstStyle/>
          <a:p>
            <a:pPr algn="l"/>
            <a:r>
              <a:rPr sz="1500" b="1" i="0">
                <a:solidFill>
                  <a:srgbClr val="FFFFFF"/>
                </a:solidFill>
                <a:latin typeface="Calibri"/>
              </a:rPr>
              <a:t>The Problem</a:t>
            </a:r>
          </a:p>
        </p:txBody>
      </p:sp>
      <p:sp>
        <p:nvSpPr>
          <p:cNvPr id="9" name="TextBox 8"/>
          <p:cNvSpPr txBox="1"/>
          <p:nvPr/>
        </p:nvSpPr>
        <p:spPr>
          <a:xfrm>
            <a:off x="530352" y="2221992"/>
            <a:ext cx="3264408" cy="4014216"/>
          </a:xfrm>
          <a:prstGeom prst="rect">
            <a:avLst/>
          </a:prstGeom>
          <a:noFill/>
        </p:spPr>
        <p:txBody>
          <a:bodyPr wrap="square">
            <a:spAutoFit/>
          </a:bodyPr>
          <a:lstStyle/>
          <a:p>
            <a:pPr>
              <a:spcBef>
                <a:spcPts val="300"/>
              </a:spcBef>
            </a:pPr>
            <a:r>
              <a:rPr sz="1400" b="0">
                <a:solidFill>
                  <a:srgbClr val="333333"/>
                </a:solidFill>
                <a:latin typeface="Calibri"/>
              </a:rPr>
              <a:t>$112.87M in modeling-window spend</a:t>
            </a:r>
          </a:p>
          <a:p>
            <a:pPr>
              <a:spcBef>
                <a:spcPts val="300"/>
              </a:spcBef>
            </a:pPr>
            <a:r>
              <a:rPr sz="1400" b="0">
                <a:solidFill>
                  <a:srgbClr val="333333"/>
                </a:solidFill>
                <a:latin typeface="Calibri"/>
              </a:rPr>
              <a:t>Last-touch credits the final click, not the cause</a:t>
            </a:r>
          </a:p>
          <a:p>
            <a:pPr>
              <a:spcBef>
                <a:spcPts val="300"/>
              </a:spcBef>
            </a:pPr>
            <a:r>
              <a:rPr sz="1400" b="0">
                <a:solidFill>
                  <a:srgbClr val="333333"/>
                </a:solidFill>
                <a:latin typeface="Calibri"/>
              </a:rPr>
              <a:t>Each platform self-reports ROAS — all overclaim</a:t>
            </a:r>
          </a:p>
        </p:txBody>
      </p:sp>
      <p:sp>
        <p:nvSpPr>
          <p:cNvPr id="10" name="Rectangle 9"/>
          <p:cNvSpPr/>
          <p:nvPr/>
        </p:nvSpPr>
        <p:spPr>
          <a:xfrm>
            <a:off x="4151376" y="1481328"/>
            <a:ext cx="3584448" cy="4846320"/>
          </a:xfrm>
          <a:prstGeom prst="rect">
            <a:avLst/>
          </a:prstGeom>
          <a:solidFill>
            <a:srgbClr val="FFF9C4"/>
          </a:solidFill>
          <a:ln>
            <a:solidFill>
              <a:srgbClr val="FFF9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51376" y="1481328"/>
            <a:ext cx="3584448" cy="512064"/>
          </a:xfrm>
          <a:prstGeom prst="rect">
            <a:avLst/>
          </a:prstGeom>
          <a:solidFill>
            <a:srgbClr val="E65100"/>
          </a:solidFill>
          <a:ln>
            <a:solidFill>
              <a:srgbClr val="E651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97680" y="1581912"/>
            <a:ext cx="3346704" cy="402336"/>
          </a:xfrm>
          <a:prstGeom prst="rect">
            <a:avLst/>
          </a:prstGeom>
          <a:noFill/>
        </p:spPr>
        <p:txBody>
          <a:bodyPr wrap="square">
            <a:spAutoFit/>
          </a:bodyPr>
          <a:lstStyle/>
          <a:p>
            <a:pPr algn="l"/>
            <a:r>
              <a:rPr sz="1500" b="1" i="0">
                <a:solidFill>
                  <a:srgbClr val="FFFFFF"/>
                </a:solidFill>
                <a:latin typeface="Calibri"/>
              </a:rPr>
              <a:t>What Breaks at Scale</a:t>
            </a:r>
          </a:p>
        </p:txBody>
      </p:sp>
      <p:sp>
        <p:nvSpPr>
          <p:cNvPr id="13" name="TextBox 12"/>
          <p:cNvSpPr txBox="1"/>
          <p:nvPr/>
        </p:nvSpPr>
        <p:spPr>
          <a:xfrm>
            <a:off x="4334256" y="2221992"/>
            <a:ext cx="3264408" cy="4014216"/>
          </a:xfrm>
          <a:prstGeom prst="rect">
            <a:avLst/>
          </a:prstGeom>
          <a:noFill/>
        </p:spPr>
        <p:txBody>
          <a:bodyPr wrap="square">
            <a:spAutoFit/>
          </a:bodyPr>
          <a:lstStyle/>
          <a:p>
            <a:pPr>
              <a:spcBef>
                <a:spcPts val="300"/>
              </a:spcBef>
            </a:pPr>
            <a:r>
              <a:rPr sz="1400" b="0">
                <a:solidFill>
                  <a:srgbClr val="333333"/>
                </a:solidFill>
                <a:latin typeface="Calibri"/>
              </a:rPr>
              <a:t>Pulling Meta spend repeatedly hurts growth within a week</a:t>
            </a:r>
          </a:p>
          <a:p>
            <a:pPr>
              <a:spcBef>
                <a:spcPts val="300"/>
              </a:spcBef>
            </a:pPr>
            <a:r>
              <a:rPr sz="1400" b="0">
                <a:solidFill>
                  <a:srgbClr val="333333"/>
                </a:solidFill>
                <a:latin typeface="Calibri"/>
              </a:rPr>
              <a:t>Yet platform dashboards show flat attributed conversions</a:t>
            </a:r>
          </a:p>
          <a:p>
            <a:pPr>
              <a:spcBef>
                <a:spcPts val="300"/>
              </a:spcBef>
            </a:pPr>
            <a:r>
              <a:rPr sz="1400" b="0">
                <a:solidFill>
                  <a:srgbClr val="333333"/>
                </a:solidFill>
                <a:latin typeface="Calibri"/>
              </a:rPr>
              <a:t>Budget decisions rest on incomplete attribution signals</a:t>
            </a:r>
          </a:p>
        </p:txBody>
      </p:sp>
      <p:sp>
        <p:nvSpPr>
          <p:cNvPr id="14" name="Rectangle 13"/>
          <p:cNvSpPr/>
          <p:nvPr/>
        </p:nvSpPr>
        <p:spPr>
          <a:xfrm>
            <a:off x="7955280" y="1481328"/>
            <a:ext cx="3584448" cy="4846320"/>
          </a:xfrm>
          <a:prstGeom prst="rect">
            <a:avLst/>
          </a:prstGeom>
          <a:solidFill>
            <a:srgbClr val="E8F5E9"/>
          </a:solidFill>
          <a:ln>
            <a:solidFill>
              <a:srgbClr val="E8F5E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955280" y="1481328"/>
            <a:ext cx="3584448" cy="512064"/>
          </a:xfrm>
          <a:prstGeom prst="rect">
            <a:avLst/>
          </a:prstGeom>
          <a:solidFill>
            <a:srgbClr val="2E7D32"/>
          </a:solidFill>
          <a:ln>
            <a:solidFill>
              <a:srgbClr val="2E7D3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01584" y="1581912"/>
            <a:ext cx="3346704" cy="402336"/>
          </a:xfrm>
          <a:prstGeom prst="rect">
            <a:avLst/>
          </a:prstGeom>
          <a:noFill/>
        </p:spPr>
        <p:txBody>
          <a:bodyPr wrap="square">
            <a:spAutoFit/>
          </a:bodyPr>
          <a:lstStyle/>
          <a:p>
            <a:pPr algn="l"/>
            <a:r>
              <a:rPr sz="1500" b="1" i="0">
                <a:solidFill>
                  <a:srgbClr val="FFFFFF"/>
                </a:solidFill>
                <a:latin typeface="Calibri"/>
              </a:rPr>
              <a:t>What We're Solving</a:t>
            </a:r>
          </a:p>
        </p:txBody>
      </p:sp>
      <p:sp>
        <p:nvSpPr>
          <p:cNvPr id="17" name="TextBox 16"/>
          <p:cNvSpPr txBox="1"/>
          <p:nvPr/>
        </p:nvSpPr>
        <p:spPr>
          <a:xfrm>
            <a:off x="8138160" y="2221992"/>
            <a:ext cx="3264408" cy="4014216"/>
          </a:xfrm>
          <a:prstGeom prst="rect">
            <a:avLst/>
          </a:prstGeom>
          <a:noFill/>
        </p:spPr>
        <p:txBody>
          <a:bodyPr wrap="square">
            <a:spAutoFit/>
          </a:bodyPr>
          <a:lstStyle/>
          <a:p>
            <a:pPr>
              <a:spcBef>
                <a:spcPts val="300"/>
              </a:spcBef>
            </a:pPr>
            <a:r>
              <a:rPr sz="1400" b="0">
                <a:solidFill>
                  <a:srgbClr val="333333"/>
                </a:solidFill>
                <a:latin typeface="Calibri"/>
              </a:rPr>
              <a:t>Causal attribution at channel x platform level</a:t>
            </a:r>
          </a:p>
          <a:p>
            <a:pPr>
              <a:spcBef>
                <a:spcPts val="300"/>
              </a:spcBef>
            </a:pPr>
            <a:r>
              <a:rPr sz="1400" b="0">
                <a:solidFill>
                  <a:srgbClr val="333333"/>
                </a:solidFill>
                <a:latin typeface="Calibri"/>
              </a:rPr>
              <a:t>Diminishing-return curves per channel for budget reallocation</a:t>
            </a:r>
          </a:p>
          <a:p>
            <a:pPr>
              <a:spcBef>
                <a:spcPts val="300"/>
              </a:spcBef>
            </a:pPr>
            <a:r>
              <a:rPr sz="1400" b="0">
                <a:solidFill>
                  <a:srgbClr val="333333"/>
                </a:solidFill>
                <a:latin typeface="Calibri"/>
              </a:rPr>
              <a:t>Defensible model anchoring the next planning cycle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3</a:t>
            </a:r>
          </a:p>
        </p:txBody>
      </p:sp>
      <p:sp>
        <p:nvSpPr>
          <p:cNvPr id="5" name="TextBox 4"/>
          <p:cNvSpPr txBox="1"/>
          <p:nvPr/>
        </p:nvSpPr>
        <p:spPr>
          <a:xfrm>
            <a:off x="457200" y="795528"/>
            <a:ext cx="11247120" cy="594360"/>
          </a:xfrm>
          <a:prstGeom prst="rect">
            <a:avLst/>
          </a:prstGeom>
          <a:noFill/>
        </p:spPr>
        <p:txBody>
          <a:bodyPr wrap="square">
            <a:spAutoFit/>
          </a:bodyPr>
          <a:lstStyle/>
          <a:p>
            <a:pPr algn="l"/>
            <a:r>
              <a:rPr sz="2100" b="1" i="0">
                <a:solidFill>
                  <a:srgbClr val="182B48"/>
                </a:solidFill>
                <a:latin typeface="Calibri"/>
              </a:rPr>
              <a:t>Full-Channel Bayesian MMM with Time-Limited Lift-Test Priors</a:t>
            </a:r>
          </a:p>
        </p:txBody>
      </p:sp>
      <p:sp>
        <p:nvSpPr>
          <p:cNvPr id="6" name="TextBox 5"/>
          <p:cNvSpPr txBox="1"/>
          <p:nvPr/>
        </p:nvSpPr>
        <p:spPr>
          <a:xfrm>
            <a:off x="457200" y="1481328"/>
            <a:ext cx="4846320" cy="4846320"/>
          </a:xfrm>
          <a:prstGeom prst="rect">
            <a:avLst/>
          </a:prstGeom>
          <a:noFill/>
        </p:spPr>
        <p:txBody>
          <a:bodyPr wrap="square">
            <a:spAutoFit/>
          </a:bodyPr>
          <a:lstStyle/>
          <a:p>
            <a:pPr>
              <a:spcBef>
                <a:spcPts val="300"/>
              </a:spcBef>
            </a:pPr>
            <a:r>
              <a:rPr sz="1300" b="1">
                <a:solidFill>
                  <a:srgbClr val="333333"/>
                </a:solidFill>
                <a:latin typeface="Calibri"/>
              </a:rPr>
              <a:t>What we built:</a:t>
            </a:r>
          </a:p>
          <a:p>
            <a:pPr>
              <a:spcBef>
                <a:spcPts val="300"/>
              </a:spcBef>
            </a:pPr>
            <a:r>
              <a:rPr sz="1300" b="0">
                <a:solidFill>
                  <a:srgbClr val="333333"/>
                </a:solidFill>
                <a:latin typeface="Calibri"/>
              </a:rPr>
              <a:t>•  Bayesian MMM — not linear regression</a:t>
            </a:r>
          </a:p>
          <a:p>
            <a:pPr>
              <a:spcBef>
                <a:spcPts val="300"/>
              </a:spcBef>
            </a:pPr>
            <a:r>
              <a:rPr sz="1300" b="0">
                <a:solidFill>
                  <a:srgbClr val="333333"/>
                </a:solidFill>
                <a:latin typeface="Calibri"/>
              </a:rPr>
              <a:t>•  All 19 paid channels in one model (no subsets)</a:t>
            </a:r>
          </a:p>
          <a:p>
            <a:pPr>
              <a:spcBef>
                <a:spcPts val="300"/>
              </a:spcBef>
            </a:pPr>
            <a:r>
              <a:rPr sz="1300" b="0">
                <a:solidFill>
                  <a:srgbClr val="333333"/>
                </a:solidFill>
                <a:latin typeface="Calibri"/>
              </a:rPr>
              <a:t>•  Two parallel models: Conversions + 3-year LTV</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Why these choices:</a:t>
            </a:r>
          </a:p>
          <a:p>
            <a:pPr>
              <a:spcBef>
                <a:spcPts val="300"/>
              </a:spcBef>
            </a:pPr>
            <a:r>
              <a:rPr sz="1300" b="0">
                <a:solidFill>
                  <a:srgbClr val="333333"/>
                </a:solidFill>
                <a:latin typeface="Calibri"/>
              </a:rPr>
              <a:t>•  Bayesian gives full posterior uncertainty per channel</a:t>
            </a:r>
          </a:p>
          <a:p>
            <a:pPr>
              <a:spcBef>
                <a:spcPts val="300"/>
              </a:spcBef>
            </a:pPr>
            <a:r>
              <a:rPr sz="1300" b="0">
                <a:solidFill>
                  <a:srgbClr val="333333"/>
                </a:solidFill>
                <a:latin typeface="Calibri"/>
              </a:rPr>
              <a:t>•  Full-channel avoids omitted-variable bias</a:t>
            </a:r>
          </a:p>
          <a:p>
            <a:pPr>
              <a:spcBef>
                <a:spcPts val="300"/>
              </a:spcBef>
            </a:pPr>
            <a:r>
              <a:rPr sz="1300" b="0">
                <a:solidFill>
                  <a:srgbClr val="333333"/>
                </a:solidFill>
                <a:latin typeface="Calibri"/>
              </a:rPr>
              <a:t>•  Dual DV separates volume from value</a:t>
            </a:r>
          </a:p>
          <a:p>
            <a:pPr>
              <a:spcBef>
                <a:spcPts val="300"/>
              </a:spcBef>
            </a:pPr>
            <a:r>
              <a:rPr sz="1300" b="0">
                <a:solidFill>
                  <a:srgbClr val="333333"/>
                </a:solidFill>
                <a:latin typeface="Calibri"/>
              </a:rPr>
              <a:t/>
            </a:r>
          </a:p>
          <a:p>
            <a:pPr>
              <a:spcBef>
                <a:spcPts val="300"/>
              </a:spcBef>
            </a:pPr>
            <a:r>
              <a:rPr sz="1300" b="1">
                <a:solidFill>
                  <a:srgbClr val="333333"/>
                </a:solidFill>
                <a:latin typeface="Calibri"/>
              </a:rPr>
              <a:t>Lift-test priors:</a:t>
            </a:r>
          </a:p>
          <a:p>
            <a:pPr>
              <a:spcBef>
                <a:spcPts val="300"/>
              </a:spcBef>
            </a:pPr>
            <a:r>
              <a:rPr sz="1300" b="0">
                <a:solidFill>
                  <a:srgbClr val="333333"/>
                </a:solidFill>
                <a:latin typeface="Calibri"/>
              </a:rPr>
              <a:t>•  Meta, TikTok, CTV holdout tests injected as priors</a:t>
            </a:r>
          </a:p>
          <a:p>
            <a:pPr>
              <a:spcBef>
                <a:spcPts val="300"/>
              </a:spcBef>
            </a:pPr>
            <a:r>
              <a:rPr sz="1300" b="0">
                <a:solidFill>
                  <a:srgbClr val="333333"/>
                </a:solidFill>
                <a:latin typeface="Calibri"/>
              </a:rPr>
              <a:t>•  Applied ONLY within test windows — not retroactively</a:t>
            </a:r>
          </a:p>
          <a:p>
            <a:pPr>
              <a:spcBef>
                <a:spcPts val="300"/>
              </a:spcBef>
            </a:pPr>
            <a:r>
              <a:rPr sz="1300" b="0">
                <a:solidFill>
                  <a:srgbClr val="333333"/>
                </a:solidFill>
                <a:latin typeface="Calibri"/>
              </a:rPr>
              <a:t>•  Sigma calibrated per Conversion Lift Study standards</a:t>
            </a:r>
          </a:p>
        </p:txBody>
      </p:sp>
      <p:pic>
        <p:nvPicPr>
          <p:cNvPr id="7" name="Picture 6" descr="slide_08_framework_table.png"/>
          <p:cNvPicPr>
            <a:picLocks noChangeAspect="1"/>
          </p:cNvPicPr>
          <p:nvPr/>
        </p:nvPicPr>
        <p:blipFill>
          <a:blip r:embed="rId3"/>
          <a:stretch>
            <a:fillRect/>
          </a:stretch>
        </p:blipFill>
        <p:spPr>
          <a:xfrm>
            <a:off x="5440680" y="1783080"/>
            <a:ext cx="6355080" cy="3840480"/>
          </a:xfrm>
          <a:prstGeom prst="rect">
            <a:avLst/>
          </a:prstGeom>
        </p:spPr>
      </p:pic>
      <p:sp>
        <p:nvSpPr>
          <p:cNvPr id="8" name="TextBox 7"/>
          <p:cNvSpPr txBox="1"/>
          <p:nvPr/>
        </p:nvSpPr>
        <p:spPr>
          <a:xfrm>
            <a:off x="5440680" y="5760720"/>
            <a:ext cx="6355080" cy="365760"/>
          </a:xfrm>
          <a:prstGeom prst="rect">
            <a:avLst/>
          </a:prstGeom>
          <a:noFill/>
        </p:spPr>
        <p:txBody>
          <a:bodyPr wrap="square">
            <a:spAutoFit/>
          </a:bodyPr>
          <a:lstStyle/>
          <a:p>
            <a:pPr algn="ctr"/>
            <a:r>
              <a:rPr sz="1000" b="0" i="1">
                <a:solidFill>
                  <a:srgbClr val="333333"/>
                </a:solidFill>
                <a:latin typeface="Calibri"/>
              </a:rPr>
              <a:t>5 frameworks evaluated — PyMC-Marketing selected for flexibility, native lift integration, and dual-DV support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4</a:t>
            </a:r>
          </a:p>
        </p:txBody>
      </p:sp>
      <p:sp>
        <p:nvSpPr>
          <p:cNvPr id="5" name="TextBox 4"/>
          <p:cNvSpPr txBox="1"/>
          <p:nvPr/>
        </p:nvSpPr>
        <p:spPr>
          <a:xfrm>
            <a:off x="457200" y="795528"/>
            <a:ext cx="11247120" cy="594360"/>
          </a:xfrm>
          <a:prstGeom prst="rect">
            <a:avLst/>
          </a:prstGeom>
          <a:noFill/>
        </p:spPr>
        <p:txBody>
          <a:bodyPr wrap="square">
            <a:spAutoFit/>
          </a:bodyPr>
          <a:lstStyle/>
          <a:p>
            <a:pPr algn="l"/>
            <a:r>
              <a:rPr sz="2100" b="1" i="0">
                <a:solidFill>
                  <a:srgbClr val="182B48"/>
                </a:solidFill>
                <a:latin typeface="Calibri"/>
              </a:rPr>
              <a:t>Two Models Fit on All 19 Channels — Live Dashboard with Confidence Bands</a:t>
            </a:r>
          </a:p>
        </p:txBody>
      </p:sp>
      <p:pic>
        <p:nvPicPr>
          <p:cNvPr id="6" name="Picture 5" descr="exec_build_stats.png"/>
          <p:cNvPicPr>
            <a:picLocks noChangeAspect="1"/>
          </p:cNvPicPr>
          <p:nvPr/>
        </p:nvPicPr>
        <p:blipFill>
          <a:blip r:embed="rId3"/>
          <a:stretch>
            <a:fillRect/>
          </a:stretch>
        </p:blipFill>
        <p:spPr>
          <a:xfrm>
            <a:off x="347472" y="1463040"/>
            <a:ext cx="5212080" cy="4754880"/>
          </a:xfrm>
          <a:prstGeom prst="rect">
            <a:avLst/>
          </a:prstGeom>
        </p:spPr>
      </p:pic>
      <p:pic>
        <p:nvPicPr>
          <p:cNvPr id="7" name="Picture 6" descr="meta_web_saturation_curve.png"/>
          <p:cNvPicPr>
            <a:picLocks noChangeAspect="1"/>
          </p:cNvPicPr>
          <p:nvPr/>
        </p:nvPicPr>
        <p:blipFill>
          <a:blip r:embed="rId4"/>
          <a:stretch>
            <a:fillRect/>
          </a:stretch>
        </p:blipFill>
        <p:spPr>
          <a:xfrm>
            <a:off x="5760720" y="1508760"/>
            <a:ext cx="6126480" cy="3794760"/>
          </a:xfrm>
          <a:prstGeom prst="rect">
            <a:avLst/>
          </a:prstGeom>
        </p:spPr>
      </p:pic>
      <p:sp>
        <p:nvSpPr>
          <p:cNvPr id="8" name="TextBox 7"/>
          <p:cNvSpPr txBox="1"/>
          <p:nvPr/>
        </p:nvSpPr>
        <p:spPr>
          <a:xfrm>
            <a:off x="5760720" y="5376672"/>
            <a:ext cx="6126480" cy="365760"/>
          </a:xfrm>
          <a:prstGeom prst="rect">
            <a:avLst/>
          </a:prstGeom>
          <a:noFill/>
        </p:spPr>
        <p:txBody>
          <a:bodyPr wrap="square">
            <a:spAutoFit/>
          </a:bodyPr>
          <a:lstStyle/>
          <a:p>
            <a:pPr algn="ctr"/>
            <a:r>
              <a:rPr sz="1000" b="0" i="1">
                <a:solidFill>
                  <a:srgbClr val="333333"/>
                </a:solidFill>
                <a:latin typeface="Calibri"/>
              </a:rPr>
              <a:t>Meta Web saturation curve — 94% HDI band, vertical line at median weekly spend</a:t>
            </a:r>
          </a:p>
        </p:txBody>
      </p:sp>
      <p:sp>
        <p:nvSpPr>
          <p:cNvPr id="9" name="Rectangle 8"/>
          <p:cNvSpPr/>
          <p:nvPr/>
        </p:nvSpPr>
        <p:spPr>
          <a:xfrm>
            <a:off x="347472" y="5989320"/>
            <a:ext cx="11475720" cy="548640"/>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6053328"/>
            <a:ext cx="4023360" cy="411480"/>
          </a:xfrm>
          <a:prstGeom prst="rect">
            <a:avLst/>
          </a:prstGeom>
          <a:noFill/>
        </p:spPr>
        <p:txBody>
          <a:bodyPr wrap="square">
            <a:spAutoFit/>
          </a:bodyPr>
          <a:lstStyle/>
          <a:p>
            <a:pPr algn="l"/>
            <a:r>
              <a:rPr sz="1300" b="1" i="0">
                <a:solidFill>
                  <a:srgbClr val="FFCC00"/>
                </a:solidFill>
                <a:latin typeface="Calibri"/>
              </a:rPr>
              <a:t>Live dashboard ▸</a:t>
            </a:r>
          </a:p>
        </p:txBody>
      </p:sp>
      <p:sp>
        <p:nvSpPr>
          <p:cNvPr id="11" name="TextBox 10"/>
          <p:cNvSpPr txBox="1"/>
          <p:nvPr/>
        </p:nvSpPr>
        <p:spPr>
          <a:xfrm>
            <a:off x="2103120" y="6080760"/>
            <a:ext cx="9601200" cy="384048"/>
          </a:xfrm>
          <a:prstGeom prst="rect">
            <a:avLst/>
          </a:prstGeom>
          <a:noFill/>
        </p:spPr>
        <p:txBody>
          <a:bodyPr wrap="square">
            <a:spAutoFit/>
          </a:bodyPr>
          <a:lstStyle/>
          <a:p>
            <a:pPr algn="l"/>
            <a:r>
              <a:rPr sz="1200" b="1" i="0">
                <a:solidFill>
                  <a:srgbClr val="FFFFFF"/>
                </a:solidFill>
                <a:latin typeface="Calibri"/>
                <a:hlinkClick r:id="rId5"/>
              </a:rPr>
              <a:t>capstonekikoff-cni9u6vowxfcgwy8ddmbtw.streamlit.app</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5</a:t>
            </a:r>
          </a:p>
        </p:txBody>
      </p:sp>
      <p:sp>
        <p:nvSpPr>
          <p:cNvPr id="5" name="TextBox 4"/>
          <p:cNvSpPr txBox="1"/>
          <p:nvPr/>
        </p:nvSpPr>
        <p:spPr>
          <a:xfrm>
            <a:off x="457200" y="795528"/>
            <a:ext cx="11247120" cy="594360"/>
          </a:xfrm>
          <a:prstGeom prst="rect">
            <a:avLst/>
          </a:prstGeom>
          <a:noFill/>
        </p:spPr>
        <p:txBody>
          <a:bodyPr wrap="square">
            <a:spAutoFit/>
          </a:bodyPr>
          <a:lstStyle/>
          <a:p>
            <a:pPr algn="l"/>
            <a:r>
              <a:rPr sz="2100" b="1" i="0">
                <a:solidFill>
                  <a:srgbClr val="182B48"/>
                </a:solidFill>
                <a:latin typeface="Calibri"/>
              </a:rPr>
              <a:t>Saturation Shape &amp; Decisioning Layer Approved; Calibration Tightening Next</a:t>
            </a:r>
          </a:p>
        </p:txBody>
      </p:sp>
      <p:pic>
        <p:nvPicPr>
          <p:cNvPr id="6" name="Picture 5" descr="exec_results_strip.png"/>
          <p:cNvPicPr>
            <a:picLocks noChangeAspect="1"/>
          </p:cNvPicPr>
          <p:nvPr/>
        </p:nvPicPr>
        <p:blipFill>
          <a:blip r:embed="rId3"/>
          <a:stretch>
            <a:fillRect/>
          </a:stretch>
        </p:blipFill>
        <p:spPr>
          <a:xfrm>
            <a:off x="457200" y="1600200"/>
            <a:ext cx="11274552" cy="4663440"/>
          </a:xfrm>
          <a:prstGeom prst="rect">
            <a:avLst/>
          </a:prstGeom>
        </p:spPr>
      </p:pic>
      <p:sp>
        <p:nvSpPr>
          <p:cNvPr id="7" name="TextBox 6"/>
          <p:cNvSpPr txBox="1"/>
          <p:nvPr/>
        </p:nvSpPr>
        <p:spPr>
          <a:xfrm>
            <a:off x="457200" y="6355080"/>
            <a:ext cx="5943600" cy="320040"/>
          </a:xfrm>
          <a:prstGeom prst="rect">
            <a:avLst/>
          </a:prstGeom>
          <a:noFill/>
        </p:spPr>
        <p:txBody>
          <a:bodyPr wrap="square">
            <a:spAutoFit/>
          </a:bodyPr>
          <a:lstStyle/>
          <a:p>
            <a:pPr algn="r"/>
            <a:r>
              <a:rPr sz="1100" b="0" i="1">
                <a:solidFill>
                  <a:srgbClr val="333333"/>
                </a:solidFill>
                <a:latin typeface="Calibri"/>
              </a:rPr>
              <a:t>Explore every chart referenced here on the live dashboard:</a:t>
            </a:r>
          </a:p>
        </p:txBody>
      </p:sp>
      <p:sp>
        <p:nvSpPr>
          <p:cNvPr id="8" name="TextBox 7"/>
          <p:cNvSpPr txBox="1"/>
          <p:nvPr/>
        </p:nvSpPr>
        <p:spPr>
          <a:xfrm>
            <a:off x="6446520" y="6355080"/>
            <a:ext cx="5303520" cy="320040"/>
          </a:xfrm>
          <a:prstGeom prst="rect">
            <a:avLst/>
          </a:prstGeom>
          <a:noFill/>
        </p:spPr>
        <p:txBody>
          <a:bodyPr wrap="square">
            <a:spAutoFit/>
          </a:bodyPr>
          <a:lstStyle/>
          <a:p>
            <a:pPr algn="l"/>
            <a:r>
              <a:rPr sz="1100" b="1" i="1">
                <a:solidFill>
                  <a:srgbClr val="182B48"/>
                </a:solidFill>
                <a:latin typeface="Calibri"/>
                <a:hlinkClick r:id="rId4"/>
              </a:rPr>
              <a:t>capstonekikoff-cni9u6vowxfcgwy8ddmbtw.streamlit.app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ontent.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118872" y="6510528"/>
            <a:ext cx="310896" cy="310896"/>
          </a:xfrm>
          <a:prstGeom prst="rect">
            <a:avLst/>
          </a:prstGeom>
          <a:solidFill>
            <a:srgbClr val="182B48"/>
          </a:solidFill>
          <a:ln>
            <a:solidFill>
              <a:srgbClr val="182B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28016" y="6519672"/>
            <a:ext cx="292608" cy="274320"/>
          </a:xfrm>
          <a:prstGeom prst="rect">
            <a:avLst/>
          </a:prstGeom>
          <a:noFill/>
        </p:spPr>
        <p:txBody>
          <a:bodyPr wrap="square">
            <a:spAutoFit/>
          </a:bodyPr>
          <a:lstStyle/>
          <a:p>
            <a:pPr algn="l"/>
            <a:r>
              <a:rPr sz="900" b="0" i="0">
                <a:solidFill>
                  <a:srgbClr val="FFCC00"/>
                </a:solidFill>
                <a:latin typeface="Calibri"/>
              </a:rPr>
              <a:t>6</a:t>
            </a:r>
          </a:p>
        </p:txBody>
      </p:sp>
      <p:sp>
        <p:nvSpPr>
          <p:cNvPr id="5" name="TextBox 4"/>
          <p:cNvSpPr txBox="1"/>
          <p:nvPr/>
        </p:nvSpPr>
        <p:spPr>
          <a:xfrm>
            <a:off x="457200" y="795528"/>
            <a:ext cx="11247120" cy="594360"/>
          </a:xfrm>
          <a:prstGeom prst="rect">
            <a:avLst/>
          </a:prstGeom>
          <a:noFill/>
        </p:spPr>
        <p:txBody>
          <a:bodyPr wrap="square">
            <a:spAutoFit/>
          </a:bodyPr>
          <a:lstStyle/>
          <a:p>
            <a:pPr algn="l"/>
            <a:r>
              <a:rPr sz="2100" b="1" i="0">
                <a:solidFill>
                  <a:srgbClr val="182B48"/>
                </a:solidFill>
                <a:latin typeface="Calibri"/>
              </a:rPr>
              <a:t>Three Workstreams Carry Us to Final Delivery on June 6</a:t>
            </a:r>
          </a:p>
        </p:txBody>
      </p:sp>
      <p:pic>
        <p:nvPicPr>
          <p:cNvPr id="6" name="Picture 5" descr="slide_09_phases.png"/>
          <p:cNvPicPr>
            <a:picLocks noChangeAspect="1"/>
          </p:cNvPicPr>
          <p:nvPr/>
        </p:nvPicPr>
        <p:blipFill>
          <a:blip r:embed="rId3"/>
          <a:stretch>
            <a:fillRect/>
          </a:stretch>
        </p:blipFill>
        <p:spPr>
          <a:xfrm>
            <a:off x="347472" y="1417320"/>
            <a:ext cx="11475720" cy="2194560"/>
          </a:xfrm>
          <a:prstGeom prst="rect">
            <a:avLst/>
          </a:prstGeom>
        </p:spPr>
      </p:pic>
      <p:pic>
        <p:nvPicPr>
          <p:cNvPr id="7" name="Picture 6" descr="exec_remaining_work.png"/>
          <p:cNvPicPr>
            <a:picLocks noChangeAspect="1"/>
          </p:cNvPicPr>
          <p:nvPr/>
        </p:nvPicPr>
        <p:blipFill>
          <a:blip r:embed="rId4"/>
          <a:stretch>
            <a:fillRect/>
          </a:stretch>
        </p:blipFill>
        <p:spPr>
          <a:xfrm>
            <a:off x="347472" y="3657600"/>
            <a:ext cx="11475720" cy="283464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