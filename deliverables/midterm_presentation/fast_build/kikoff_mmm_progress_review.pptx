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 thank you for being here. I'm Yash Tiwari, and I'm here with my teammates Chunjiang Liu, Shivang Bhatt, and Yoko He. We're the Kikoff capstone team from the UC San Diego Rady MSBA program, and today we'll be walking you through our progress on building a Media Mix Model for Kikoff.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quick roadmap of what we'll cover. We'll move from the business context and data foundation, through our methodology and deliverables, into our findings to date, and close with recommendations and next steps. Each of us will take a section.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introduction. [Coordinate live — each person introduces themselves in one sentence as they're named: name, concentration or prior role, and what they owned on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Kikoff spends roughly $100 million annually across more than ten marketing channels. The challenge is that their current approach relies heavily on last-touch and platform-reported attribution — meaning they know someone converted, but not which combination of marketing activity actually caused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Kikoff is a fintech company focused on credit-building and financial wellness subscriptions. The problem they're trying to solve is one that many consumer brands face at scale: as marketing spend grows, traditional attribution methods break down.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three datasets. First: daily spend broken down by source group and platform — iOS, Android, and Web. Second: daily outcomes — conversion counts and model-predicted lifetime value. Third: a CSV of historical incrementality tests covering TikTok, two Meta tests, and a CTV test.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outputs are all at the channel-by-platform level. First: incremental contribution estimates — for each channel-platform combination, how much of observed conversions and LTV is attributable to that spend, net of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evaluated five modeling frameworks — Meridian, LightweightMMM, Robyn, a custom PyMC build, and PyMC-Marketing. We selected PyMC-Marketing for its flexibility, its native support for incrementality priors, and a clean fallback path to raw PyMC if needed.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working in five phases. Phase 1 — business understanding and data audit — is essentially complete. We've locked the taxonomy, selected the framework, and addressed the data quality issues.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data review: spend and outcome data are now merged at daily granularity, and the modeling window is confirmed as Q3 2024 through March 2026. Meta, TikTok, and Google account for roughly two-thirds of total spend. Seasonality is clear in the data — tax season shows a lift.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transformations happen before the data enters the model. First, adstock — advertising has a carry-over effect. An ad someone sees today doesn't just influence today's decision; some fraction of that influence carries into tomorrow and the day after. Second, saturation — also called the Hill transformation — captures diminishing returns.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we came in with a broad mandate to measure causal channel contribution. Over the past several weeks, we refined that into a concrete specification — channel-by-platform, dual outcomes, Bayesian with time-limited incrementality priors — completed the data foundation, and selected the framework. All of that is locked and sponsor-approved, ahead of schedule.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only.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10 source groups by total spend in modeling window. Meta (Facebook), TikTok, and Google together account for ~73% of total.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spend vs conversions scatter, r=0.317 (modeling window, same-day). Lag analysis r=0.45 (full date range, at lag 0) is shown on slide 11. Right: LTV per conversion over time shows mean reversion after anomaly windows were corrected.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monthly seasonality index — clear peaks in tax season (Jan-Apr). Right: total daily spend trend showing growth in modeling window.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project arc: 4 phases from business understanding through final handoff. Phase 1 complete, Phase 2 in progress now.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milestone breakdown. M1 (data cleaning) and M2 (time-limited prior mechanism) are complete. M3 (Meta POC model) is the current active milestone.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png"/><Relationship Id="rId4"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in_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1828800"/>
            <a:ext cx="8686800" cy="1828800"/>
          </a:xfrm>
          <a:prstGeom prst="rect">
            <a:avLst/>
          </a:prstGeom>
          <a:noFill/>
        </p:spPr>
        <p:txBody>
          <a:bodyPr wrap="square">
            <a:spAutoFit/>
          </a:bodyPr>
          <a:lstStyle/>
          <a:p>
            <a:pPr algn="l"/>
            <a:r>
              <a:rPr sz="3400" b="1" i="0">
                <a:solidFill>
                  <a:srgbClr val="FFFFFF"/>
                </a:solidFill>
                <a:latin typeface="Calibri"/>
              </a:rPr>
              <a:t>Measuring What Actually Drives
Kikoff's Growth</a:t>
            </a:r>
          </a:p>
        </p:txBody>
      </p:sp>
      <p:sp>
        <p:nvSpPr>
          <p:cNvPr id="4" name="TextBox 3"/>
          <p:cNvSpPr txBox="1"/>
          <p:nvPr/>
        </p:nvSpPr>
        <p:spPr>
          <a:xfrm>
            <a:off x="914400" y="3749039"/>
            <a:ext cx="8686800" cy="640080"/>
          </a:xfrm>
          <a:prstGeom prst="rect">
            <a:avLst/>
          </a:prstGeom>
          <a:noFill/>
        </p:spPr>
        <p:txBody>
          <a:bodyPr wrap="square">
            <a:spAutoFit/>
          </a:bodyPr>
          <a:lstStyle/>
          <a:p>
            <a:pPr algn="l"/>
            <a:r>
              <a:rPr sz="2000" b="0" i="0">
                <a:solidFill>
                  <a:srgbClr val="FFCC00"/>
                </a:solidFill>
                <a:latin typeface="Calibri"/>
              </a:rPr>
              <a:t>UC San Diego Rady MSBA — Capstone 2026</a:t>
            </a:r>
          </a:p>
        </p:txBody>
      </p:sp>
      <p:sp>
        <p:nvSpPr>
          <p:cNvPr id="5" name="TextBox 4"/>
          <p:cNvSpPr txBox="1"/>
          <p:nvPr/>
        </p:nvSpPr>
        <p:spPr>
          <a:xfrm>
            <a:off x="914400" y="4480560"/>
            <a:ext cx="8686800" cy="1645920"/>
          </a:xfrm>
          <a:prstGeom prst="rect">
            <a:avLst/>
          </a:prstGeom>
          <a:noFill/>
        </p:spPr>
        <p:txBody>
          <a:bodyPr wrap="square">
            <a:spAutoFit/>
          </a:bodyPr>
          <a:lstStyle/>
          <a:p>
            <a:pPr algn="l"/>
            <a:r>
              <a:rPr sz="1600" b="0" i="0">
                <a:solidFill>
                  <a:srgbClr val="FFFFFF"/>
                </a:solidFill>
                <a:latin typeface="Calibri"/>
              </a:rPr>
              <a:t>Yash Tiwari  ·  Chunjiang Liu  ·  Shivang Bhatt  ·  Yoko He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2</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Four Sections, One Story: From Data to Budget Decisions</a:t>
            </a:r>
          </a:p>
        </p:txBody>
      </p:sp>
      <p:sp>
        <p:nvSpPr>
          <p:cNvPr id="6" name="TextBox 5"/>
          <p:cNvSpPr txBox="1"/>
          <p:nvPr/>
        </p:nvSpPr>
        <p:spPr>
          <a:xfrm>
            <a:off x="685800" y="1554480"/>
            <a:ext cx="10789920" cy="384048"/>
          </a:xfrm>
          <a:prstGeom prst="rect">
            <a:avLst/>
          </a:prstGeom>
          <a:noFill/>
        </p:spPr>
        <p:txBody>
          <a:bodyPr wrap="square">
            <a:spAutoFit/>
          </a:bodyPr>
          <a:lstStyle/>
          <a:p>
            <a:pPr algn="l"/>
            <a:r>
              <a:rPr sz="1700" b="1" i="0">
                <a:solidFill>
                  <a:srgbClr val="182B48"/>
                </a:solidFill>
                <a:latin typeface="Calibri"/>
              </a:rPr>
              <a:t>1.  Business Context &amp; Data Foundation</a:t>
            </a:r>
          </a:p>
        </p:txBody>
      </p:sp>
      <p:sp>
        <p:nvSpPr>
          <p:cNvPr id="7" name="TextBox 6"/>
          <p:cNvSpPr txBox="1"/>
          <p:nvPr/>
        </p:nvSpPr>
        <p:spPr>
          <a:xfrm>
            <a:off x="1005840" y="1938528"/>
            <a:ext cx="10424160" cy="365760"/>
          </a:xfrm>
          <a:prstGeom prst="rect">
            <a:avLst/>
          </a:prstGeom>
          <a:noFill/>
        </p:spPr>
        <p:txBody>
          <a:bodyPr wrap="square">
            <a:spAutoFit/>
          </a:bodyPr>
          <a:lstStyle/>
          <a:p>
            <a:pPr algn="l"/>
            <a:r>
              <a:rPr sz="1400" b="0" i="0">
                <a:solidFill>
                  <a:srgbClr val="333333"/>
                </a:solidFill>
                <a:latin typeface="Calibri"/>
              </a:rPr>
              <a:t>Who is Kikoff, what problem we're solving, and what data we're working with</a:t>
            </a:r>
          </a:p>
        </p:txBody>
      </p:sp>
      <p:sp>
        <p:nvSpPr>
          <p:cNvPr id="8" name="TextBox 7"/>
          <p:cNvSpPr txBox="1"/>
          <p:nvPr/>
        </p:nvSpPr>
        <p:spPr>
          <a:xfrm>
            <a:off x="685800" y="2542032"/>
            <a:ext cx="10789920" cy="384048"/>
          </a:xfrm>
          <a:prstGeom prst="rect">
            <a:avLst/>
          </a:prstGeom>
          <a:noFill/>
        </p:spPr>
        <p:txBody>
          <a:bodyPr wrap="square">
            <a:spAutoFit/>
          </a:bodyPr>
          <a:lstStyle/>
          <a:p>
            <a:pPr algn="l"/>
            <a:r>
              <a:rPr sz="1700" b="1" i="0">
                <a:solidFill>
                  <a:srgbClr val="182B48"/>
                </a:solidFill>
                <a:latin typeface="Calibri"/>
              </a:rPr>
              <a:t>2.  Methodology &amp; Deliverables</a:t>
            </a:r>
          </a:p>
        </p:txBody>
      </p:sp>
      <p:sp>
        <p:nvSpPr>
          <p:cNvPr id="9" name="TextBox 8"/>
          <p:cNvSpPr txBox="1"/>
          <p:nvPr/>
        </p:nvSpPr>
        <p:spPr>
          <a:xfrm>
            <a:off x="1005840" y="2926080"/>
            <a:ext cx="10424160" cy="365760"/>
          </a:xfrm>
          <a:prstGeom prst="rect">
            <a:avLst/>
          </a:prstGeom>
          <a:noFill/>
        </p:spPr>
        <p:txBody>
          <a:bodyPr wrap="square">
            <a:spAutoFit/>
          </a:bodyPr>
          <a:lstStyle/>
          <a:p>
            <a:pPr algn="l"/>
            <a:r>
              <a:rPr sz="1400" b="0" i="0">
                <a:solidFill>
                  <a:srgbClr val="333333"/>
                </a:solidFill>
                <a:latin typeface="Calibri"/>
              </a:rPr>
              <a:t>What we're building, how we selected our framework, and what we evaluated</a:t>
            </a:r>
          </a:p>
        </p:txBody>
      </p:sp>
      <p:sp>
        <p:nvSpPr>
          <p:cNvPr id="10" name="TextBox 9"/>
          <p:cNvSpPr txBox="1"/>
          <p:nvPr/>
        </p:nvSpPr>
        <p:spPr>
          <a:xfrm>
            <a:off x="685800" y="3529584"/>
            <a:ext cx="10789920" cy="384048"/>
          </a:xfrm>
          <a:prstGeom prst="rect">
            <a:avLst/>
          </a:prstGeom>
          <a:noFill/>
        </p:spPr>
        <p:txBody>
          <a:bodyPr wrap="square">
            <a:spAutoFit/>
          </a:bodyPr>
          <a:lstStyle/>
          <a:p>
            <a:pPr algn="l"/>
            <a:r>
              <a:rPr sz="1700" b="1" i="0">
                <a:solidFill>
                  <a:srgbClr val="182B48"/>
                </a:solidFill>
                <a:latin typeface="Calibri"/>
              </a:rPr>
              <a:t>3.  Findings to Date</a:t>
            </a:r>
          </a:p>
        </p:txBody>
      </p:sp>
      <p:sp>
        <p:nvSpPr>
          <p:cNvPr id="11" name="TextBox 10"/>
          <p:cNvSpPr txBox="1"/>
          <p:nvPr/>
        </p:nvSpPr>
        <p:spPr>
          <a:xfrm>
            <a:off x="1005840" y="3913632"/>
            <a:ext cx="10424160" cy="365760"/>
          </a:xfrm>
          <a:prstGeom prst="rect">
            <a:avLst/>
          </a:prstGeom>
          <a:noFill/>
        </p:spPr>
        <p:txBody>
          <a:bodyPr wrap="square">
            <a:spAutoFit/>
          </a:bodyPr>
          <a:lstStyle/>
          <a:p>
            <a:pPr algn="l"/>
            <a:r>
              <a:rPr sz="1400" b="0" i="0">
                <a:solidFill>
                  <a:srgbClr val="333333"/>
                </a:solidFill>
                <a:latin typeface="Calibri"/>
              </a:rPr>
              <a:t>Key EDA results, data quality resolutions, and early modeling signals</a:t>
            </a:r>
          </a:p>
        </p:txBody>
      </p:sp>
      <p:sp>
        <p:nvSpPr>
          <p:cNvPr id="12" name="TextBox 11"/>
          <p:cNvSpPr txBox="1"/>
          <p:nvPr/>
        </p:nvSpPr>
        <p:spPr>
          <a:xfrm>
            <a:off x="685800" y="4517136"/>
            <a:ext cx="10789920" cy="384048"/>
          </a:xfrm>
          <a:prstGeom prst="rect">
            <a:avLst/>
          </a:prstGeom>
          <a:noFill/>
        </p:spPr>
        <p:txBody>
          <a:bodyPr wrap="square">
            <a:spAutoFit/>
          </a:bodyPr>
          <a:lstStyle/>
          <a:p>
            <a:pPr algn="l"/>
            <a:r>
              <a:rPr sz="1700" b="1" i="0">
                <a:solidFill>
                  <a:srgbClr val="182B48"/>
                </a:solidFill>
                <a:latin typeface="Calibri"/>
              </a:rPr>
              <a:t>4.  Next Steps</a:t>
            </a:r>
          </a:p>
        </p:txBody>
      </p:sp>
      <p:sp>
        <p:nvSpPr>
          <p:cNvPr id="13" name="TextBox 12"/>
          <p:cNvSpPr txBox="1"/>
          <p:nvPr/>
        </p:nvSpPr>
        <p:spPr>
          <a:xfrm>
            <a:off x="1005840" y="4901184"/>
            <a:ext cx="10424160" cy="365760"/>
          </a:xfrm>
          <a:prstGeom prst="rect">
            <a:avLst/>
          </a:prstGeom>
          <a:noFill/>
        </p:spPr>
        <p:txBody>
          <a:bodyPr wrap="square">
            <a:spAutoFit/>
          </a:bodyPr>
          <a:lstStyle/>
          <a:p>
            <a:pPr algn="l"/>
            <a:r>
              <a:rPr sz="1400" b="0" i="0">
                <a:solidFill>
                  <a:srgbClr val="333333"/>
                </a:solidFill>
                <a:latin typeface="Calibri"/>
              </a:rPr>
              <a:t>Three concrete milestones between now and the final deliverable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3</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Meet the Team</a:t>
            </a:r>
          </a:p>
        </p:txBody>
      </p:sp>
      <p:pic>
        <p:nvPicPr>
          <p:cNvPr id="6" name="Picture 5" descr="Draft_MMM_kikoff.pptx.png"/>
          <p:cNvPicPr>
            <a:picLocks noChangeAspect="1"/>
          </p:cNvPicPr>
          <p:nvPr/>
        </p:nvPicPr>
        <p:blipFill>
          <a:blip r:embed="rId3"/>
          <a:stretch>
            <a:fillRect/>
          </a:stretch>
        </p:blipFill>
        <p:spPr>
          <a:xfrm>
            <a:off x="347472" y="1389888"/>
            <a:ext cx="11475720" cy="51389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4</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Platform Attribution Costs Kikoff Precision on $112M in Annual Spend</a:t>
            </a:r>
          </a:p>
        </p:txBody>
      </p:sp>
      <p:sp>
        <p:nvSpPr>
          <p:cNvPr id="6" name="Rectangle 5"/>
          <p:cNvSpPr/>
          <p:nvPr/>
        </p:nvSpPr>
        <p:spPr>
          <a:xfrm>
            <a:off x="347472" y="1481328"/>
            <a:ext cx="3584448" cy="4846320"/>
          </a:xfrm>
          <a:prstGeom prst="rect">
            <a:avLst/>
          </a:prstGeom>
          <a:solidFill>
            <a:srgbClr val="E3F2FD"/>
          </a:solidFill>
          <a:ln>
            <a:solidFill>
              <a:srgbClr val="E3F2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7472" y="1481328"/>
            <a:ext cx="3584448" cy="512064"/>
          </a:xfrm>
          <a:prstGeom prst="rect">
            <a:avLst/>
          </a:prstGeom>
          <a:solidFill>
            <a:srgbClr val="1565C0"/>
          </a:solidFill>
          <a:ln>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3776" y="1581912"/>
            <a:ext cx="3346704" cy="402336"/>
          </a:xfrm>
          <a:prstGeom prst="rect">
            <a:avLst/>
          </a:prstGeom>
          <a:noFill/>
        </p:spPr>
        <p:txBody>
          <a:bodyPr wrap="square">
            <a:spAutoFit/>
          </a:bodyPr>
          <a:lstStyle/>
          <a:p>
            <a:pPr algn="l"/>
            <a:r>
              <a:rPr sz="1500" b="1" i="0">
                <a:solidFill>
                  <a:srgbClr val="FFFFFF"/>
                </a:solidFill>
                <a:latin typeface="Calibri"/>
              </a:rPr>
              <a:t>The Problem</a:t>
            </a:r>
          </a:p>
        </p:txBody>
      </p:sp>
      <p:sp>
        <p:nvSpPr>
          <p:cNvPr id="9" name="TextBox 8"/>
          <p:cNvSpPr txBox="1"/>
          <p:nvPr/>
        </p:nvSpPr>
        <p:spPr>
          <a:xfrm>
            <a:off x="530352" y="2221992"/>
            <a:ext cx="3264408" cy="4014216"/>
          </a:xfrm>
          <a:prstGeom prst="rect">
            <a:avLst/>
          </a:prstGeom>
          <a:noFill/>
        </p:spPr>
        <p:txBody>
          <a:bodyPr wrap="square">
            <a:spAutoFit/>
          </a:bodyPr>
          <a:lstStyle/>
          <a:p>
            <a:pPr>
              <a:spcBef>
                <a:spcPts val="300"/>
              </a:spcBef>
            </a:pPr>
            <a:r>
              <a:rPr sz="1400" b="0">
                <a:solidFill>
                  <a:srgbClr val="333333"/>
                </a:solidFill>
                <a:latin typeface="Calibri"/>
              </a:rPr>
              <a:t>$112M annual spend — zero causal attribution</a:t>
            </a:r>
          </a:p>
          <a:p>
            <a:pPr>
              <a:spcBef>
                <a:spcPts val="300"/>
              </a:spcBef>
            </a:pPr>
            <a:r>
              <a:rPr sz="1400" b="0">
                <a:solidFill>
                  <a:srgbClr val="333333"/>
                </a:solidFill>
                <a:latin typeface="Calibri"/>
              </a:rPr>
              <a:t>Each platform self-reports ROAS — all overclaim</a:t>
            </a:r>
          </a:p>
          <a:p>
            <a:pPr>
              <a:spcBef>
                <a:spcPts val="300"/>
              </a:spcBef>
            </a:pPr>
            <a:r>
              <a:rPr sz="1400" b="0">
                <a:solidFill>
                  <a:srgbClr val="333333"/>
                </a:solidFill>
                <a:latin typeface="Calibri"/>
              </a:rPr>
              <a:t>Last-touch credits the final click, not the cause</a:t>
            </a:r>
          </a:p>
        </p:txBody>
      </p:sp>
      <p:sp>
        <p:nvSpPr>
          <p:cNvPr id="10" name="Rectangle 9"/>
          <p:cNvSpPr/>
          <p:nvPr/>
        </p:nvSpPr>
        <p:spPr>
          <a:xfrm>
            <a:off x="4151376" y="1481328"/>
            <a:ext cx="3584448" cy="4846320"/>
          </a:xfrm>
          <a:prstGeom prst="rect">
            <a:avLst/>
          </a:prstGeom>
          <a:solidFill>
            <a:srgbClr val="FFF9C4"/>
          </a:solidFill>
          <a:ln>
            <a:solidFill>
              <a:srgbClr val="FFF9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51376" y="1481328"/>
            <a:ext cx="3584448" cy="512064"/>
          </a:xfrm>
          <a:prstGeom prst="rect">
            <a:avLst/>
          </a:prstGeom>
          <a:solidFill>
            <a:srgbClr val="E65100"/>
          </a:solidFill>
          <a:ln>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581912"/>
            <a:ext cx="3346704" cy="402336"/>
          </a:xfrm>
          <a:prstGeom prst="rect">
            <a:avLst/>
          </a:prstGeom>
          <a:noFill/>
        </p:spPr>
        <p:txBody>
          <a:bodyPr wrap="square">
            <a:spAutoFit/>
          </a:bodyPr>
          <a:lstStyle/>
          <a:p>
            <a:pPr algn="l"/>
            <a:r>
              <a:rPr sz="1500" b="1" i="0">
                <a:solidFill>
                  <a:srgbClr val="FFFFFF"/>
                </a:solidFill>
                <a:latin typeface="Calibri"/>
              </a:rPr>
              <a:t>Key Pivots</a:t>
            </a:r>
          </a:p>
        </p:txBody>
      </p:sp>
      <p:sp>
        <p:nvSpPr>
          <p:cNvPr id="13" name="TextBox 12"/>
          <p:cNvSpPr txBox="1"/>
          <p:nvPr/>
        </p:nvSpPr>
        <p:spPr>
          <a:xfrm>
            <a:off x="4334256" y="2221992"/>
            <a:ext cx="3264408" cy="4014216"/>
          </a:xfrm>
          <a:prstGeom prst="rect">
            <a:avLst/>
          </a:prstGeom>
          <a:noFill/>
        </p:spPr>
        <p:txBody>
          <a:bodyPr wrap="square">
            <a:spAutoFit/>
          </a:bodyPr>
          <a:lstStyle/>
          <a:p>
            <a:pPr>
              <a:spcBef>
                <a:spcPts val="300"/>
              </a:spcBef>
            </a:pPr>
            <a:r>
              <a:rPr sz="1400" b="0">
                <a:solidFill>
                  <a:srgbClr val="333333"/>
                </a:solidFill>
                <a:latin typeface="Calibri"/>
              </a:rPr>
              <a:t>Channel  →  channel × platform</a:t>
            </a:r>
          </a:p>
          <a:p>
            <a:pPr>
              <a:spcBef>
                <a:spcPts val="300"/>
              </a:spcBef>
            </a:pPr>
            <a:r>
              <a:rPr sz="1400" b="0">
                <a:solidFill>
                  <a:srgbClr val="333333"/>
                </a:solidFill>
                <a:latin typeface="Calibri"/>
              </a:rPr>
              <a:t>Single DV  →  conversions + LTV</a:t>
            </a:r>
          </a:p>
          <a:p>
            <a:pPr>
              <a:spcBef>
                <a:spcPts val="300"/>
              </a:spcBef>
            </a:pPr>
            <a:r>
              <a:rPr sz="1400" b="0">
                <a:solidFill>
                  <a:srgbClr val="333333"/>
                </a:solidFill>
                <a:latin typeface="Calibri"/>
              </a:rPr>
              <a:t>Linear regression  →  Bayesian with priors</a:t>
            </a:r>
          </a:p>
        </p:txBody>
      </p:sp>
      <p:sp>
        <p:nvSpPr>
          <p:cNvPr id="14" name="Rectangle 13"/>
          <p:cNvSpPr/>
          <p:nvPr/>
        </p:nvSpPr>
        <p:spPr>
          <a:xfrm>
            <a:off x="7955280" y="1481328"/>
            <a:ext cx="3584448" cy="4846320"/>
          </a:xfrm>
          <a:prstGeom prst="rect">
            <a:avLst/>
          </a:prstGeom>
          <a:solidFill>
            <a:srgbClr val="E8F5E9"/>
          </a:solidFill>
          <a:ln>
            <a:solidFill>
              <a:srgbClr val="E8F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80" y="1481328"/>
            <a:ext cx="3584448" cy="512064"/>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01584" y="1581912"/>
            <a:ext cx="3346704" cy="402336"/>
          </a:xfrm>
          <a:prstGeom prst="rect">
            <a:avLst/>
          </a:prstGeom>
          <a:noFill/>
        </p:spPr>
        <p:txBody>
          <a:bodyPr wrap="square">
            <a:spAutoFit/>
          </a:bodyPr>
          <a:lstStyle/>
          <a:p>
            <a:pPr algn="l"/>
            <a:r>
              <a:rPr sz="1500" b="1" i="0">
                <a:solidFill>
                  <a:srgbClr val="FFFFFF"/>
                </a:solidFill>
                <a:latin typeface="Calibri"/>
              </a:rPr>
              <a:t>Where We Stand</a:t>
            </a:r>
          </a:p>
        </p:txBody>
      </p:sp>
      <p:sp>
        <p:nvSpPr>
          <p:cNvPr id="17" name="TextBox 16"/>
          <p:cNvSpPr txBox="1"/>
          <p:nvPr/>
        </p:nvSpPr>
        <p:spPr>
          <a:xfrm>
            <a:off x="8138160" y="2221992"/>
            <a:ext cx="3264408" cy="4014216"/>
          </a:xfrm>
          <a:prstGeom prst="rect">
            <a:avLst/>
          </a:prstGeom>
          <a:noFill/>
        </p:spPr>
        <p:txBody>
          <a:bodyPr wrap="square">
            <a:spAutoFit/>
          </a:bodyPr>
          <a:lstStyle/>
          <a:p>
            <a:pPr>
              <a:spcBef>
                <a:spcPts val="300"/>
              </a:spcBef>
            </a:pPr>
            <a:r>
              <a:rPr sz="1400" b="0">
                <a:solidFill>
                  <a:srgbClr val="333333"/>
                </a:solidFill>
                <a:latin typeface="Calibri"/>
              </a:rPr>
              <a:t>✓  Framework: PyMC-Marketing — approved</a:t>
            </a:r>
          </a:p>
          <a:p>
            <a:pPr>
              <a:spcBef>
                <a:spcPts val="300"/>
              </a:spcBef>
            </a:pPr>
            <a:r>
              <a:rPr sz="1400" b="0">
                <a:solidFill>
                  <a:srgbClr val="333333"/>
                </a:solidFill>
                <a:latin typeface="Calibri"/>
              </a:rPr>
              <a:t>✓  13 channels locked, taxonomy clean</a:t>
            </a:r>
          </a:p>
          <a:p>
            <a:pPr>
              <a:spcBef>
                <a:spcPts val="300"/>
              </a:spcBef>
            </a:pPr>
            <a:r>
              <a:rPr sz="1400" b="0">
                <a:solidFill>
                  <a:srgbClr val="333333"/>
                </a:solidFill>
                <a:latin typeface="Calibri"/>
              </a:rPr>
              <a:t>✓  Phase 1 complete — all 5 gates passed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5</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Last-Touch Attribution Gives Credit to the Wrong Channels</a:t>
            </a:r>
          </a:p>
        </p:txBody>
      </p:sp>
      <p:sp>
        <p:nvSpPr>
          <p:cNvPr id="6" name="TextBox 5"/>
          <p:cNvSpPr txBox="1"/>
          <p:nvPr/>
        </p:nvSpPr>
        <p:spPr>
          <a:xfrm>
            <a:off x="457200" y="1481328"/>
            <a:ext cx="4709160" cy="4709160"/>
          </a:xfrm>
          <a:prstGeom prst="rect">
            <a:avLst/>
          </a:prstGeom>
          <a:noFill/>
        </p:spPr>
        <p:txBody>
          <a:bodyPr wrap="square">
            <a:spAutoFit/>
          </a:bodyPr>
          <a:lstStyle/>
          <a:p>
            <a:pPr>
              <a:spcBef>
                <a:spcPts val="300"/>
              </a:spcBef>
            </a:pPr>
            <a:r>
              <a:rPr sz="1400" b="1">
                <a:solidFill>
                  <a:srgbClr val="333333"/>
                </a:solidFill>
                <a:latin typeface="Calibri"/>
              </a:rPr>
              <a:t>Current state:</a:t>
            </a:r>
          </a:p>
          <a:p>
            <a:pPr>
              <a:spcBef>
                <a:spcPts val="300"/>
              </a:spcBef>
            </a:pPr>
            <a:r>
              <a:rPr sz="1400" b="0">
                <a:solidFill>
                  <a:srgbClr val="333333"/>
                </a:solidFill>
                <a:latin typeface="Calibri"/>
              </a:rPr>
              <a:t>•  Last-touch gives all credit to the final ad clicked</a:t>
            </a:r>
          </a:p>
          <a:p>
            <a:pPr>
              <a:spcBef>
                <a:spcPts val="300"/>
              </a:spcBef>
            </a:pPr>
            <a:r>
              <a:rPr sz="1400" b="0">
                <a:solidFill>
                  <a:srgbClr val="333333"/>
                </a:solidFill>
                <a:latin typeface="Calibri"/>
              </a:rPr>
              <a:t>•  Each platform self-reports ROAS — all overclaim</a:t>
            </a:r>
          </a:p>
          <a:p>
            <a:pPr>
              <a:spcBef>
                <a:spcPts val="300"/>
              </a:spcBef>
            </a:pPr>
            <a:r>
              <a:rPr sz="1400" b="0">
                <a:solidFill>
                  <a:srgbClr val="333333"/>
                </a:solidFill>
                <a:latin typeface="Calibri"/>
              </a:rPr>
              <a:t/>
            </a:r>
          </a:p>
          <a:p>
            <a:pPr>
              <a:spcBef>
                <a:spcPts val="300"/>
              </a:spcBef>
            </a:pPr>
            <a:r>
              <a:rPr sz="1400" b="1">
                <a:solidFill>
                  <a:srgbClr val="333333"/>
                </a:solidFill>
                <a:latin typeface="Calibri"/>
              </a:rPr>
              <a:t>Desired state:</a:t>
            </a:r>
          </a:p>
          <a:p>
            <a:pPr>
              <a:spcBef>
                <a:spcPts val="300"/>
              </a:spcBef>
            </a:pPr>
            <a:r>
              <a:rPr sz="1400" b="0">
                <a:solidFill>
                  <a:srgbClr val="333333"/>
                </a:solidFill>
                <a:latin typeface="Calibri"/>
              </a:rPr>
              <a:t>•  Causal attribution at channel × platform level</a:t>
            </a:r>
          </a:p>
          <a:p>
            <a:pPr>
              <a:spcBef>
                <a:spcPts val="300"/>
              </a:spcBef>
            </a:pPr>
            <a:r>
              <a:rPr sz="1400" b="0">
                <a:solidFill>
                  <a:srgbClr val="333333"/>
                </a:solidFill>
                <a:latin typeface="Calibri"/>
              </a:rPr>
              <a:t>•  Diminishing returns visible per channel</a:t>
            </a:r>
          </a:p>
          <a:p>
            <a:pPr>
              <a:spcBef>
                <a:spcPts val="300"/>
              </a:spcBef>
            </a:pPr>
            <a:r>
              <a:rPr sz="1400" b="0">
                <a:solidFill>
                  <a:srgbClr val="333333"/>
                </a:solidFill>
                <a:latin typeface="Calibri"/>
              </a:rPr>
              <a:t/>
            </a:r>
          </a:p>
          <a:p>
            <a:pPr>
              <a:spcBef>
                <a:spcPts val="300"/>
              </a:spcBef>
            </a:pPr>
            <a:r>
              <a:rPr sz="1400" b="1">
                <a:solidFill>
                  <a:srgbClr val="333333"/>
                </a:solidFill>
                <a:latin typeface="Calibri"/>
              </a:rPr>
              <a:t>Constraints:</a:t>
            </a:r>
          </a:p>
          <a:p>
            <a:pPr>
              <a:spcBef>
                <a:spcPts val="300"/>
              </a:spcBef>
            </a:pPr>
            <a:r>
              <a:rPr sz="1400" b="0">
                <a:solidFill>
                  <a:srgbClr val="333333"/>
                </a:solidFill>
                <a:latin typeface="Calibri"/>
              </a:rPr>
              <a:t>•  Bayesian required (linear regression ruled out)</a:t>
            </a:r>
          </a:p>
          <a:p>
            <a:pPr>
              <a:spcBef>
                <a:spcPts val="300"/>
              </a:spcBef>
            </a:pPr>
            <a:r>
              <a:rPr sz="1400" b="0">
                <a:solidFill>
                  <a:srgbClr val="333333"/>
                </a:solidFill>
                <a:latin typeface="Calibri"/>
              </a:rPr>
              <a:t>•  Incrementality priors time-limited to test windows</a:t>
            </a:r>
          </a:p>
          <a:p>
            <a:pPr>
              <a:spcBef>
                <a:spcPts val="300"/>
              </a:spcBef>
            </a:pPr>
            <a:r>
              <a:rPr sz="1400" b="0">
                <a:solidFill>
                  <a:srgbClr val="333333"/>
                </a:solidFill>
                <a:latin typeface="Calibri"/>
              </a:rPr>
              <a:t>•  Dual DV: conversions and LTV modeled separately</a:t>
            </a:r>
          </a:p>
        </p:txBody>
      </p:sp>
      <p:pic>
        <p:nvPicPr>
          <p:cNvPr id="7" name="Picture 6" descr="slide_05_problem_diagram.png"/>
          <p:cNvPicPr>
            <a:picLocks noChangeAspect="1"/>
          </p:cNvPicPr>
          <p:nvPr/>
        </p:nvPicPr>
        <p:blipFill>
          <a:blip r:embed="rId3"/>
          <a:stretch>
            <a:fillRect/>
          </a:stretch>
        </p:blipFill>
        <p:spPr>
          <a:xfrm>
            <a:off x="5285232" y="1508760"/>
            <a:ext cx="6510528" cy="46177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6</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21 Months, 13 Channels, 4 Incrementality Tests — After 5 Quality Fixes</a:t>
            </a:r>
          </a:p>
        </p:txBody>
      </p:sp>
      <p:sp>
        <p:nvSpPr>
          <p:cNvPr id="6" name="TextBox 5"/>
          <p:cNvSpPr txBox="1"/>
          <p:nvPr/>
        </p:nvSpPr>
        <p:spPr>
          <a:xfrm>
            <a:off x="457200" y="1481328"/>
            <a:ext cx="4709160" cy="4709160"/>
          </a:xfrm>
          <a:prstGeom prst="rect">
            <a:avLst/>
          </a:prstGeom>
          <a:noFill/>
        </p:spPr>
        <p:txBody>
          <a:bodyPr wrap="square">
            <a:spAutoFit/>
          </a:bodyPr>
          <a:lstStyle/>
          <a:p>
            <a:pPr>
              <a:spcBef>
                <a:spcPts val="300"/>
              </a:spcBef>
            </a:pPr>
            <a:r>
              <a:rPr sz="1300" b="1">
                <a:solidFill>
                  <a:srgbClr val="333333"/>
                </a:solidFill>
                <a:latin typeface="Calibri"/>
              </a:rPr>
              <a:t>Spend data:</a:t>
            </a:r>
          </a:p>
          <a:p>
            <a:pPr>
              <a:spcBef>
                <a:spcPts val="300"/>
              </a:spcBef>
            </a:pPr>
            <a:r>
              <a:rPr sz="1300" b="0">
                <a:solidFill>
                  <a:srgbClr val="333333"/>
                </a:solidFill>
                <a:latin typeface="Calibri"/>
              </a:rPr>
              <a:t>•  Daily · 15 source groups → 13 canonical channels</a:t>
            </a:r>
          </a:p>
          <a:p>
            <a:pPr>
              <a:spcBef>
                <a:spcPts val="300"/>
              </a:spcBef>
            </a:pPr>
            <a:r>
              <a:rPr sz="1300" b="0">
                <a:solidFill>
                  <a:srgbClr val="333333"/>
                </a:solidFill>
                <a:latin typeface="Calibri"/>
              </a:rPr>
              <a:t>•  Q3 2024 – Mar 2026 (639 rows · 28 cols · 0 null LTV)</a:t>
            </a:r>
          </a:p>
          <a:p>
            <a:pPr>
              <a:spcBef>
                <a:spcPts val="300"/>
              </a:spcBef>
            </a:pPr>
            <a:r>
              <a:rPr sz="1300" b="0">
                <a:solidFill>
                  <a:srgbClr val="333333"/>
                </a:solidFill>
                <a:latin typeface="Calibri"/>
              </a:rPr>
              <a:t/>
            </a:r>
          </a:p>
          <a:p>
            <a:pPr>
              <a:spcBef>
                <a:spcPts val="300"/>
              </a:spcBef>
            </a:pPr>
            <a:r>
              <a:rPr sz="1300" b="1">
                <a:solidFill>
                  <a:srgbClr val="333333"/>
                </a:solidFill>
                <a:latin typeface="Calibri"/>
              </a:rPr>
              <a:t>Outcome data:</a:t>
            </a:r>
          </a:p>
          <a:p>
            <a:pPr>
              <a:spcBef>
                <a:spcPts val="300"/>
              </a:spcBef>
            </a:pPr>
            <a:r>
              <a:rPr sz="1300" b="0">
                <a:solidFill>
                  <a:srgbClr val="333333"/>
                </a:solidFill>
                <a:latin typeface="Calibri"/>
              </a:rPr>
              <a:t>•  Daily conversions + model-predicted LTV</a:t>
            </a:r>
          </a:p>
          <a:p>
            <a:pPr>
              <a:spcBef>
                <a:spcPts val="300"/>
              </a:spcBef>
            </a:pPr>
            <a:r>
              <a:rPr sz="1300" b="0">
                <a:solidFill>
                  <a:srgbClr val="333333"/>
                </a:solidFill>
                <a:latin typeface="Calibri"/>
              </a:rPr>
              <a:t>•  Mean 2,560 conversions/day · peak 4,354</a:t>
            </a:r>
          </a:p>
          <a:p>
            <a:pPr>
              <a:spcBef>
                <a:spcPts val="300"/>
              </a:spcBef>
            </a:pPr>
            <a:r>
              <a:rPr sz="1300" b="0">
                <a:solidFill>
                  <a:srgbClr val="333333"/>
                </a:solidFill>
                <a:latin typeface="Calibri"/>
              </a:rPr>
              <a:t/>
            </a:r>
          </a:p>
          <a:p>
            <a:pPr>
              <a:spcBef>
                <a:spcPts val="300"/>
              </a:spcBef>
            </a:pPr>
            <a:r>
              <a:rPr sz="1300" b="1">
                <a:solidFill>
                  <a:srgbClr val="333333"/>
                </a:solidFill>
                <a:latin typeface="Calibri"/>
              </a:rPr>
              <a:t>Incrementality tests:</a:t>
            </a:r>
          </a:p>
          <a:p>
            <a:pPr>
              <a:spcBef>
                <a:spcPts val="300"/>
              </a:spcBef>
            </a:pPr>
            <a:r>
              <a:rPr sz="1300" b="0">
                <a:solidFill>
                  <a:srgbClr val="333333"/>
                </a:solidFill>
                <a:latin typeface="Calibri"/>
              </a:rPr>
              <a:t>•  TikTok · Meta ×2 (incl. Jan 2026 partial) · CTV geo</a:t>
            </a:r>
          </a:p>
          <a:p>
            <a:pPr>
              <a:spcBef>
                <a:spcPts val="300"/>
              </a:spcBef>
            </a:pPr>
            <a:r>
              <a:rPr sz="1300" b="0">
                <a:solidFill>
                  <a:srgbClr val="333333"/>
                </a:solidFill>
                <a:latin typeface="Calibri"/>
              </a:rPr>
              <a:t/>
            </a:r>
          </a:p>
          <a:p>
            <a:pPr>
              <a:spcBef>
                <a:spcPts val="300"/>
              </a:spcBef>
            </a:pPr>
            <a:r>
              <a:rPr sz="1300" b="1">
                <a:solidFill>
                  <a:srgbClr val="333333"/>
                </a:solidFill>
                <a:latin typeface="Calibri"/>
              </a:rPr>
              <a:t>5 quality issues resolved:</a:t>
            </a:r>
          </a:p>
          <a:p>
            <a:pPr>
              <a:spcBef>
                <a:spcPts val="300"/>
              </a:spcBef>
            </a:pPr>
            <a:r>
              <a:rPr sz="1300" b="0">
                <a:solidFill>
                  <a:srgbClr val="333333"/>
                </a:solidFill>
                <a:latin typeface="Calibri"/>
              </a:rPr>
              <a:t>•  Platform typos · LTV anomaly windows (|z| max = 0.85)</a:t>
            </a:r>
          </a:p>
          <a:p>
            <a:pPr>
              <a:spcBef>
                <a:spcPts val="300"/>
              </a:spcBef>
            </a:pPr>
            <a:r>
              <a:rPr sz="1300" b="0">
                <a:solidFill>
                  <a:srgbClr val="333333"/>
                </a:solidFill>
                <a:latin typeface="Calibri"/>
              </a:rPr>
              <a:t>•  Null rows · DSP mismatch · Idle/Others erroneous data removed</a:t>
            </a:r>
          </a:p>
        </p:txBody>
      </p:sp>
      <p:pic>
        <p:nvPicPr>
          <p:cNvPr id="7" name="Picture 6" descr="channel_composition_monthly.png"/>
          <p:cNvPicPr>
            <a:picLocks noChangeAspect="1"/>
          </p:cNvPicPr>
          <p:nvPr/>
        </p:nvPicPr>
        <p:blipFill>
          <a:blip r:embed="rId3"/>
          <a:stretch>
            <a:fillRect/>
          </a:stretch>
        </p:blipFill>
        <p:spPr>
          <a:xfrm>
            <a:off x="5285232" y="1463040"/>
            <a:ext cx="6510528" cy="46817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7</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The Deliverable: ICAC and ROAS Curves That Anchor the Next Budget Cycle</a:t>
            </a:r>
          </a:p>
        </p:txBody>
      </p:sp>
      <p:sp>
        <p:nvSpPr>
          <p:cNvPr id="6" name="TextBox 5"/>
          <p:cNvSpPr txBox="1"/>
          <p:nvPr/>
        </p:nvSpPr>
        <p:spPr>
          <a:xfrm>
            <a:off x="457200" y="1481328"/>
            <a:ext cx="4709160" cy="4709160"/>
          </a:xfrm>
          <a:prstGeom prst="rect">
            <a:avLst/>
          </a:prstGeom>
          <a:noFill/>
        </p:spPr>
        <p:txBody>
          <a:bodyPr wrap="square">
            <a:spAutoFit/>
          </a:bodyPr>
          <a:lstStyle/>
          <a:p>
            <a:pPr>
              <a:spcBef>
                <a:spcPts val="300"/>
              </a:spcBef>
            </a:pPr>
            <a:r>
              <a:rPr sz="1300" b="1">
                <a:solidFill>
                  <a:srgbClr val="333333"/>
                </a:solidFill>
                <a:latin typeface="Calibri"/>
              </a:rPr>
              <a:t>Primary outputs:</a:t>
            </a:r>
          </a:p>
          <a:p>
            <a:pPr>
              <a:spcBef>
                <a:spcPts val="300"/>
              </a:spcBef>
            </a:pPr>
            <a:r>
              <a:rPr sz="1300" b="0">
                <a:solidFill>
                  <a:srgbClr val="333333"/>
                </a:solidFill>
                <a:latin typeface="Calibri"/>
              </a:rPr>
              <a:t>•  ICAC + ROAS curves per channel × platform</a:t>
            </a:r>
          </a:p>
          <a:p>
            <a:pPr>
              <a:spcBef>
                <a:spcPts val="300"/>
              </a:spcBef>
            </a:pPr>
            <a:r>
              <a:rPr sz="1300" b="0">
                <a:solidFill>
                  <a:srgbClr val="333333"/>
                </a:solidFill>
                <a:latin typeface="Calibri"/>
              </a:rPr>
              <a:t>•  Efficiency at current, +20%, −20% spend levels</a:t>
            </a:r>
          </a:p>
          <a:p>
            <a:pPr>
              <a:spcBef>
                <a:spcPts val="300"/>
              </a:spcBef>
            </a:pPr>
            <a:r>
              <a:rPr sz="1300" b="0">
                <a:solidFill>
                  <a:srgbClr val="333333"/>
                </a:solidFill>
                <a:latin typeface="Calibri"/>
              </a:rPr>
              <a:t/>
            </a:r>
          </a:p>
          <a:p>
            <a:pPr>
              <a:spcBef>
                <a:spcPts val="300"/>
              </a:spcBef>
            </a:pPr>
            <a:r>
              <a:rPr sz="1300" b="1">
                <a:solidFill>
                  <a:srgbClr val="333333"/>
                </a:solidFill>
                <a:latin typeface="Calibri"/>
              </a:rPr>
              <a:t>Saturation curves:</a:t>
            </a:r>
          </a:p>
          <a:p>
            <a:pPr>
              <a:spcBef>
                <a:spcPts val="300"/>
              </a:spcBef>
            </a:pPr>
            <a:r>
              <a:rPr sz="1300" b="0">
                <a:solidFill>
                  <a:srgbClr val="333333"/>
                </a:solidFill>
                <a:latin typeface="Calibri"/>
              </a:rPr>
              <a:t>•  Where diminishing returns kick in per channel</a:t>
            </a:r>
          </a:p>
          <a:p>
            <a:pPr>
              <a:spcBef>
                <a:spcPts val="300"/>
              </a:spcBef>
            </a:pPr>
            <a:r>
              <a:rPr sz="1300" b="0">
                <a:solidFill>
                  <a:srgbClr val="333333"/>
                </a:solidFill>
                <a:latin typeface="Calibri"/>
              </a:rPr>
              <a:t>•  Marginal ROI guardrails for budget reallocation</a:t>
            </a:r>
          </a:p>
          <a:p>
            <a:pPr>
              <a:spcBef>
                <a:spcPts val="300"/>
              </a:spcBef>
            </a:pPr>
            <a:r>
              <a:rPr sz="1300" b="0">
                <a:solidFill>
                  <a:srgbClr val="333333"/>
                </a:solidFill>
                <a:latin typeface="Calibri"/>
              </a:rPr>
              <a:t/>
            </a:r>
          </a:p>
          <a:p>
            <a:pPr>
              <a:spcBef>
                <a:spcPts val="300"/>
              </a:spcBef>
            </a:pPr>
            <a:r>
              <a:rPr sz="1300" b="1">
                <a:solidFill>
                  <a:srgbClr val="333333"/>
                </a:solidFill>
                <a:latin typeface="Calibri"/>
              </a:rPr>
              <a:t>Seasonal scenarios:</a:t>
            </a:r>
          </a:p>
          <a:p>
            <a:pPr>
              <a:spcBef>
                <a:spcPts val="300"/>
              </a:spcBef>
            </a:pPr>
            <a:r>
              <a:rPr sz="1300" b="0">
                <a:solidFill>
                  <a:srgbClr val="333333"/>
                </a:solidFill>
                <a:latin typeface="Calibri"/>
              </a:rPr>
              <a:t>•  Tax season · holiday · steady-state allocations</a:t>
            </a:r>
          </a:p>
          <a:p>
            <a:pPr>
              <a:spcBef>
                <a:spcPts val="300"/>
              </a:spcBef>
            </a:pPr>
            <a:r>
              <a:rPr sz="1300" b="0">
                <a:solidFill>
                  <a:srgbClr val="333333"/>
                </a:solidFill>
                <a:latin typeface="Calibri"/>
              </a:rPr>
              <a:t>•  Budget recommendations with spend-move %</a:t>
            </a:r>
          </a:p>
          <a:p>
            <a:pPr>
              <a:spcBef>
                <a:spcPts val="300"/>
              </a:spcBef>
            </a:pPr>
            <a:r>
              <a:rPr sz="1300" b="0">
                <a:solidFill>
                  <a:srgbClr val="333333"/>
                </a:solidFill>
                <a:latin typeface="Calibri"/>
              </a:rPr>
              <a:t/>
            </a:r>
          </a:p>
          <a:p>
            <a:pPr>
              <a:spcBef>
                <a:spcPts val="300"/>
              </a:spcBef>
            </a:pPr>
            <a:r>
              <a:rPr sz="1300" b="1">
                <a:solidFill>
                  <a:srgbClr val="333333"/>
                </a:solidFill>
                <a:latin typeface="Calibri"/>
              </a:rPr>
              <a:t>Output format →</a:t>
            </a:r>
          </a:p>
        </p:txBody>
      </p:sp>
      <p:pic>
        <p:nvPicPr>
          <p:cNvPr id="7" name="Picture 6" descr="slide_07_deliverable_preview.png"/>
          <p:cNvPicPr>
            <a:picLocks noChangeAspect="1"/>
          </p:cNvPicPr>
          <p:nvPr/>
        </p:nvPicPr>
        <p:blipFill>
          <a:blip r:embed="rId3"/>
          <a:stretch>
            <a:fillRect/>
          </a:stretch>
        </p:blipFill>
        <p:spPr>
          <a:xfrm>
            <a:off x="5285232" y="1463040"/>
            <a:ext cx="6510528" cy="46817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8</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PyMC-Marketing Won on Flexibility, Integration, and Fallback</a:t>
            </a:r>
          </a:p>
        </p:txBody>
      </p:sp>
      <p:sp>
        <p:nvSpPr>
          <p:cNvPr id="6" name="TextBox 5"/>
          <p:cNvSpPr txBox="1"/>
          <p:nvPr/>
        </p:nvSpPr>
        <p:spPr>
          <a:xfrm>
            <a:off x="457200" y="1463040"/>
            <a:ext cx="11155680" cy="640080"/>
          </a:xfrm>
          <a:prstGeom prst="rect">
            <a:avLst/>
          </a:prstGeom>
          <a:noFill/>
        </p:spPr>
        <p:txBody>
          <a:bodyPr wrap="square">
            <a:spAutoFit/>
          </a:bodyPr>
          <a:lstStyle/>
          <a:p>
            <a:pPr>
              <a:spcBef>
                <a:spcPts val="300"/>
              </a:spcBef>
            </a:pPr>
            <a:r>
              <a:rPr sz="1400" b="1">
                <a:solidFill>
                  <a:srgbClr val="333333"/>
                </a:solidFill>
                <a:latin typeface="Calibri"/>
              </a:rPr>
              <a:t>5 frameworks evaluated — decision locked and sponsor-approved:</a:t>
            </a:r>
          </a:p>
        </p:txBody>
      </p:sp>
      <p:pic>
        <p:nvPicPr>
          <p:cNvPr id="7" name="Picture 6" descr="slide_08_framework_table.png"/>
          <p:cNvPicPr>
            <a:picLocks noChangeAspect="1"/>
          </p:cNvPicPr>
          <p:nvPr/>
        </p:nvPicPr>
        <p:blipFill>
          <a:blip r:embed="rId3"/>
          <a:stretch>
            <a:fillRect/>
          </a:stretch>
        </p:blipFill>
        <p:spPr>
          <a:xfrm>
            <a:off x="347472" y="2194560"/>
            <a:ext cx="11356848" cy="3931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9</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Five Phases, Phase 1 Done — Meta Model POC Active Now</a:t>
            </a:r>
          </a:p>
        </p:txBody>
      </p:sp>
      <p:sp>
        <p:nvSpPr>
          <p:cNvPr id="6" name="TextBox 5"/>
          <p:cNvSpPr txBox="1"/>
          <p:nvPr/>
        </p:nvSpPr>
        <p:spPr>
          <a:xfrm>
            <a:off x="457200" y="1481328"/>
            <a:ext cx="11155680" cy="713232"/>
          </a:xfrm>
          <a:prstGeom prst="rect">
            <a:avLst/>
          </a:prstGeom>
          <a:noFill/>
        </p:spPr>
        <p:txBody>
          <a:bodyPr wrap="square">
            <a:spAutoFit/>
          </a:bodyPr>
          <a:lstStyle/>
          <a:p>
            <a:pPr>
              <a:spcBef>
                <a:spcPts val="300"/>
              </a:spcBef>
            </a:pPr>
            <a:r>
              <a:rPr sz="1400" b="0">
                <a:solidFill>
                  <a:srgbClr val="333333"/>
                </a:solidFill>
                <a:latin typeface="Calibri"/>
              </a:rPr>
              <a:t>Phase 1 complete · Phase 2 begins now · Phases 3–5: replication → scenarios → handoff</a:t>
            </a:r>
          </a:p>
        </p:txBody>
      </p:sp>
      <p:pic>
        <p:nvPicPr>
          <p:cNvPr id="7" name="Picture 6" descr="slide_09_phases.png"/>
          <p:cNvPicPr>
            <a:picLocks noChangeAspect="1"/>
          </p:cNvPicPr>
          <p:nvPr/>
        </p:nvPicPr>
        <p:blipFill>
          <a:blip r:embed="rId3"/>
          <a:stretch>
            <a:fillRect/>
          </a:stretch>
        </p:blipFill>
        <p:spPr>
          <a:xfrm>
            <a:off x="347472" y="2267712"/>
            <a:ext cx="11356848" cy="42976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10</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Meta, TikTok, Google Drive 73% of Spend — Tax Season Peaks Are Real</a:t>
            </a:r>
          </a:p>
        </p:txBody>
      </p:sp>
      <p:sp>
        <p:nvSpPr>
          <p:cNvPr id="6" name="TextBox 5"/>
          <p:cNvSpPr txBox="1"/>
          <p:nvPr/>
        </p:nvSpPr>
        <p:spPr>
          <a:xfrm>
            <a:off x="457200" y="1645920"/>
            <a:ext cx="2011680" cy="475488"/>
          </a:xfrm>
          <a:prstGeom prst="rect">
            <a:avLst/>
          </a:prstGeom>
          <a:noFill/>
        </p:spPr>
        <p:txBody>
          <a:bodyPr wrap="square">
            <a:spAutoFit/>
          </a:bodyPr>
          <a:lstStyle/>
          <a:p>
            <a:pPr algn="l"/>
            <a:r>
              <a:rPr sz="2200" b="1" i="0">
                <a:solidFill>
                  <a:srgbClr val="182B48"/>
                </a:solidFill>
                <a:latin typeface="Calibri"/>
              </a:rPr>
              <a:t>$112.87M</a:t>
            </a:r>
          </a:p>
        </p:txBody>
      </p:sp>
      <p:sp>
        <p:nvSpPr>
          <p:cNvPr id="7" name="TextBox 6"/>
          <p:cNvSpPr txBox="1"/>
          <p:nvPr/>
        </p:nvSpPr>
        <p:spPr>
          <a:xfrm>
            <a:off x="2514600" y="1719072"/>
            <a:ext cx="2468880" cy="402336"/>
          </a:xfrm>
          <a:prstGeom prst="rect">
            <a:avLst/>
          </a:prstGeom>
          <a:noFill/>
        </p:spPr>
        <p:txBody>
          <a:bodyPr wrap="square">
            <a:spAutoFit/>
          </a:bodyPr>
          <a:lstStyle/>
          <a:p>
            <a:pPr algn="l"/>
            <a:r>
              <a:rPr sz="1200" b="0" i="0">
                <a:solidFill>
                  <a:srgbClr val="333333"/>
                </a:solidFill>
                <a:latin typeface="Calibri"/>
              </a:rPr>
              <a:t>total spend in modeling window</a:t>
            </a:r>
          </a:p>
        </p:txBody>
      </p:sp>
      <p:sp>
        <p:nvSpPr>
          <p:cNvPr id="8" name="TextBox 7"/>
          <p:cNvSpPr txBox="1"/>
          <p:nvPr/>
        </p:nvSpPr>
        <p:spPr>
          <a:xfrm>
            <a:off x="457200" y="2468880"/>
            <a:ext cx="2011680" cy="475488"/>
          </a:xfrm>
          <a:prstGeom prst="rect">
            <a:avLst/>
          </a:prstGeom>
          <a:noFill/>
        </p:spPr>
        <p:txBody>
          <a:bodyPr wrap="square">
            <a:spAutoFit/>
          </a:bodyPr>
          <a:lstStyle/>
          <a:p>
            <a:pPr algn="l"/>
            <a:r>
              <a:rPr sz="2200" b="1" i="0">
                <a:solidFill>
                  <a:srgbClr val="182B48"/>
                </a:solidFill>
                <a:latin typeface="Calibri"/>
              </a:rPr>
              <a:t>73.2%</a:t>
            </a:r>
          </a:p>
        </p:txBody>
      </p:sp>
      <p:sp>
        <p:nvSpPr>
          <p:cNvPr id="9" name="TextBox 8"/>
          <p:cNvSpPr txBox="1"/>
          <p:nvPr/>
        </p:nvSpPr>
        <p:spPr>
          <a:xfrm>
            <a:off x="2514600" y="2542032"/>
            <a:ext cx="2468880" cy="402336"/>
          </a:xfrm>
          <a:prstGeom prst="rect">
            <a:avLst/>
          </a:prstGeom>
          <a:noFill/>
        </p:spPr>
        <p:txBody>
          <a:bodyPr wrap="square">
            <a:spAutoFit/>
          </a:bodyPr>
          <a:lstStyle/>
          <a:p>
            <a:pPr algn="l"/>
            <a:r>
              <a:rPr sz="1200" b="0" i="0">
                <a:solidFill>
                  <a:srgbClr val="333333"/>
                </a:solidFill>
                <a:latin typeface="Calibri"/>
              </a:rPr>
              <a:t>share from Meta · TikTok · Google</a:t>
            </a:r>
          </a:p>
        </p:txBody>
      </p:sp>
      <p:sp>
        <p:nvSpPr>
          <p:cNvPr id="10" name="TextBox 9"/>
          <p:cNvSpPr txBox="1"/>
          <p:nvPr/>
        </p:nvSpPr>
        <p:spPr>
          <a:xfrm>
            <a:off x="457200" y="3291840"/>
            <a:ext cx="2011680" cy="475488"/>
          </a:xfrm>
          <a:prstGeom prst="rect">
            <a:avLst/>
          </a:prstGeom>
          <a:noFill/>
        </p:spPr>
        <p:txBody>
          <a:bodyPr wrap="square">
            <a:spAutoFit/>
          </a:bodyPr>
          <a:lstStyle/>
          <a:p>
            <a:pPr algn="l"/>
            <a:r>
              <a:rPr sz="2200" b="1" i="0">
                <a:solidFill>
                  <a:srgbClr val="182B48"/>
                </a:solidFill>
                <a:latin typeface="Calibri"/>
              </a:rPr>
              <a:t>4,354</a:t>
            </a:r>
          </a:p>
        </p:txBody>
      </p:sp>
      <p:sp>
        <p:nvSpPr>
          <p:cNvPr id="11" name="TextBox 10"/>
          <p:cNvSpPr txBox="1"/>
          <p:nvPr/>
        </p:nvSpPr>
        <p:spPr>
          <a:xfrm>
            <a:off x="2514600" y="3364992"/>
            <a:ext cx="2468880" cy="402336"/>
          </a:xfrm>
          <a:prstGeom prst="rect">
            <a:avLst/>
          </a:prstGeom>
          <a:noFill/>
        </p:spPr>
        <p:txBody>
          <a:bodyPr wrap="square">
            <a:spAutoFit/>
          </a:bodyPr>
          <a:lstStyle/>
          <a:p>
            <a:pPr algn="l"/>
            <a:r>
              <a:rPr sz="1200" b="0" i="0">
                <a:solidFill>
                  <a:srgbClr val="333333"/>
                </a:solidFill>
                <a:latin typeface="Calibri"/>
              </a:rPr>
              <a:t>peak conversions/day  (2025-05-30)</a:t>
            </a:r>
          </a:p>
        </p:txBody>
      </p:sp>
      <p:sp>
        <p:nvSpPr>
          <p:cNvPr id="12" name="TextBox 11"/>
          <p:cNvSpPr txBox="1"/>
          <p:nvPr/>
        </p:nvSpPr>
        <p:spPr>
          <a:xfrm>
            <a:off x="457200" y="4114800"/>
            <a:ext cx="2011680" cy="475488"/>
          </a:xfrm>
          <a:prstGeom prst="rect">
            <a:avLst/>
          </a:prstGeom>
          <a:noFill/>
        </p:spPr>
        <p:txBody>
          <a:bodyPr wrap="square">
            <a:spAutoFit/>
          </a:bodyPr>
          <a:lstStyle/>
          <a:p>
            <a:pPr algn="l"/>
            <a:r>
              <a:rPr sz="2200" b="1" i="0">
                <a:solidFill>
                  <a:srgbClr val="182B48"/>
                </a:solidFill>
                <a:latin typeface="Calibri"/>
              </a:rPr>
              <a:t>0.45</a:t>
            </a:r>
          </a:p>
        </p:txBody>
      </p:sp>
      <p:sp>
        <p:nvSpPr>
          <p:cNvPr id="13" name="TextBox 12"/>
          <p:cNvSpPr txBox="1"/>
          <p:nvPr/>
        </p:nvSpPr>
        <p:spPr>
          <a:xfrm>
            <a:off x="2514600" y="4187952"/>
            <a:ext cx="2468880" cy="402336"/>
          </a:xfrm>
          <a:prstGeom prst="rect">
            <a:avLst/>
          </a:prstGeom>
          <a:noFill/>
        </p:spPr>
        <p:txBody>
          <a:bodyPr wrap="square">
            <a:spAutoFit/>
          </a:bodyPr>
          <a:lstStyle/>
          <a:p>
            <a:pPr algn="l"/>
            <a:r>
              <a:rPr sz="1200" b="0" i="0">
                <a:solidFill>
                  <a:srgbClr val="333333"/>
                </a:solidFill>
                <a:latin typeface="Calibri"/>
              </a:rPr>
              <a:t>spend–conversion correlation
(lag analysis, full date range)</a:t>
            </a:r>
          </a:p>
        </p:txBody>
      </p:sp>
      <p:pic>
        <p:nvPicPr>
          <p:cNvPr id="14" name="Picture 13" descr="conversions_and_revenue.png"/>
          <p:cNvPicPr>
            <a:picLocks noChangeAspect="1"/>
          </p:cNvPicPr>
          <p:nvPr/>
        </p:nvPicPr>
        <p:blipFill>
          <a:blip r:embed="rId3"/>
          <a:stretch>
            <a:fillRect/>
          </a:stretch>
        </p:blipFill>
        <p:spPr>
          <a:xfrm>
            <a:off x="5285232" y="1463040"/>
            <a:ext cx="6510528" cy="468172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11</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Adstock + Saturation + Bayesian Priors = Causal Attribution</a:t>
            </a:r>
          </a:p>
        </p:txBody>
      </p:sp>
      <p:sp>
        <p:nvSpPr>
          <p:cNvPr id="6" name="TextBox 5"/>
          <p:cNvSpPr txBox="1"/>
          <p:nvPr/>
        </p:nvSpPr>
        <p:spPr>
          <a:xfrm>
            <a:off x="457200" y="1481328"/>
            <a:ext cx="4709160" cy="4709160"/>
          </a:xfrm>
          <a:prstGeom prst="rect">
            <a:avLst/>
          </a:prstGeom>
          <a:noFill/>
        </p:spPr>
        <p:txBody>
          <a:bodyPr wrap="square">
            <a:spAutoFit/>
          </a:bodyPr>
          <a:lstStyle/>
          <a:p>
            <a:pPr>
              <a:spcBef>
                <a:spcPts val="300"/>
              </a:spcBef>
            </a:pPr>
            <a:r>
              <a:rPr sz="1300" b="1">
                <a:solidFill>
                  <a:srgbClr val="333333"/>
                </a:solidFill>
                <a:latin typeface="Calibri"/>
              </a:rPr>
              <a:t>Adstock (carry-over):</a:t>
            </a:r>
          </a:p>
          <a:p>
            <a:pPr>
              <a:spcBef>
                <a:spcPts val="300"/>
              </a:spcBef>
            </a:pPr>
            <a:r>
              <a:rPr sz="1300" b="0">
                <a:solidFill>
                  <a:srgbClr val="333333"/>
                </a:solidFill>
                <a:latin typeface="Calibri"/>
              </a:rPr>
              <a:t>•  Ad effects decay across days — decay rate estimated per channel</a:t>
            </a:r>
          </a:p>
          <a:p>
            <a:pPr>
              <a:spcBef>
                <a:spcPts val="300"/>
              </a:spcBef>
            </a:pPr>
            <a:r>
              <a:rPr sz="1300" b="0">
                <a:solidFill>
                  <a:srgbClr val="333333"/>
                </a:solidFill>
                <a:latin typeface="Calibri"/>
              </a:rPr>
              <a:t>•  Data: peak correlation at lag 0 — decay will be short (see →)</a:t>
            </a:r>
          </a:p>
          <a:p>
            <a:pPr>
              <a:spcBef>
                <a:spcPts val="300"/>
              </a:spcBef>
            </a:pPr>
            <a:r>
              <a:rPr sz="1300" b="0">
                <a:solidFill>
                  <a:srgbClr val="333333"/>
                </a:solidFill>
                <a:latin typeface="Calibri"/>
              </a:rPr>
              <a:t/>
            </a:r>
          </a:p>
          <a:p>
            <a:pPr>
              <a:spcBef>
                <a:spcPts val="300"/>
              </a:spcBef>
            </a:pPr>
            <a:r>
              <a:rPr sz="1300" b="1">
                <a:solidFill>
                  <a:srgbClr val="333333"/>
                </a:solidFill>
                <a:latin typeface="Calibri"/>
              </a:rPr>
              <a:t>Hill saturation:</a:t>
            </a:r>
          </a:p>
          <a:p>
            <a:pPr>
              <a:spcBef>
                <a:spcPts val="300"/>
              </a:spcBef>
            </a:pPr>
            <a:r>
              <a:rPr sz="1300" b="0">
                <a:solidFill>
                  <a:srgbClr val="333333"/>
                </a:solidFill>
                <a:latin typeface="Calibri"/>
              </a:rPr>
              <a:t>•  Diminishing returns curve shape fit per channel</a:t>
            </a:r>
          </a:p>
          <a:p>
            <a:pPr>
              <a:spcBef>
                <a:spcPts val="300"/>
              </a:spcBef>
            </a:pPr>
            <a:r>
              <a:rPr sz="1300" b="0">
                <a:solidFill>
                  <a:srgbClr val="333333"/>
                </a:solidFill>
                <a:latin typeface="Calibri"/>
              </a:rPr>
              <a:t>•  Tells us when more spend stops buying proportional growth</a:t>
            </a:r>
          </a:p>
          <a:p>
            <a:pPr>
              <a:spcBef>
                <a:spcPts val="300"/>
              </a:spcBef>
            </a:pPr>
            <a:r>
              <a:rPr sz="1300" b="0">
                <a:solidFill>
                  <a:srgbClr val="333333"/>
                </a:solidFill>
                <a:latin typeface="Calibri"/>
              </a:rPr>
              <a:t/>
            </a:r>
          </a:p>
          <a:p>
            <a:pPr>
              <a:spcBef>
                <a:spcPts val="300"/>
              </a:spcBef>
            </a:pPr>
            <a:r>
              <a:rPr sz="1300" b="1">
                <a:solidFill>
                  <a:srgbClr val="333333"/>
                </a:solidFill>
                <a:latin typeface="Calibri"/>
              </a:rPr>
              <a:t>Incrementality priors:</a:t>
            </a:r>
          </a:p>
          <a:p>
            <a:pPr>
              <a:spcBef>
                <a:spcPts val="300"/>
              </a:spcBef>
            </a:pPr>
            <a:r>
              <a:rPr sz="1300" b="0">
                <a:solidFill>
                  <a:srgbClr val="333333"/>
                </a:solidFill>
                <a:latin typeface="Calibri"/>
              </a:rPr>
              <a:t>•  Meta, TikTok, CTV holdout test results injected as priors</a:t>
            </a:r>
          </a:p>
          <a:p>
            <a:pPr>
              <a:spcBef>
                <a:spcPts val="300"/>
              </a:spcBef>
            </a:pPr>
            <a:r>
              <a:rPr sz="1300" b="0">
                <a:solidFill>
                  <a:srgbClr val="333333"/>
                </a:solidFill>
                <a:latin typeface="Calibri"/>
              </a:rPr>
              <a:t>•  Applied ONLY within test windows — not retroactively (D004)</a:t>
            </a:r>
          </a:p>
        </p:txBody>
      </p:sp>
      <p:pic>
        <p:nvPicPr>
          <p:cNvPr id="7" name="Picture 6" descr="spend_conversion_lag.png"/>
          <p:cNvPicPr>
            <a:picLocks noChangeAspect="1"/>
          </p:cNvPicPr>
          <p:nvPr/>
        </p:nvPicPr>
        <p:blipFill>
          <a:blip r:embed="rId3"/>
          <a:stretch>
            <a:fillRect/>
          </a:stretch>
        </p:blipFill>
        <p:spPr>
          <a:xfrm>
            <a:off x="5285232" y="1463040"/>
            <a:ext cx="6510528" cy="468172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12</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Three Milestones Separate Us from Kikoff's New Budget Model</a:t>
            </a:r>
          </a:p>
        </p:txBody>
      </p:sp>
      <p:pic>
        <p:nvPicPr>
          <p:cNvPr id="6" name="Picture 5" descr="slide_12_milestones.png"/>
          <p:cNvPicPr>
            <a:picLocks noChangeAspect="1"/>
          </p:cNvPicPr>
          <p:nvPr/>
        </p:nvPicPr>
        <p:blipFill>
          <a:blip r:embed="rId3"/>
          <a:stretch>
            <a:fillRect/>
          </a:stretch>
        </p:blipFill>
        <p:spPr>
          <a:xfrm>
            <a:off x="347472" y="1389888"/>
            <a:ext cx="11356848" cy="51206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in_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1828800"/>
            <a:ext cx="8686800" cy="1828800"/>
          </a:xfrm>
          <a:prstGeom prst="rect">
            <a:avLst/>
          </a:prstGeom>
          <a:noFill/>
        </p:spPr>
        <p:txBody>
          <a:bodyPr wrap="square">
            <a:spAutoFit/>
          </a:bodyPr>
          <a:lstStyle/>
          <a:p>
            <a:pPr algn="l"/>
            <a:r>
              <a:rPr sz="3400" b="1" i="0">
                <a:solidFill>
                  <a:srgbClr val="FFFFFF"/>
                </a:solidFill>
                <a:latin typeface="Calibri"/>
              </a:rPr>
              <a:t>Questions?</a:t>
            </a:r>
          </a:p>
        </p:txBody>
      </p:sp>
      <p:sp>
        <p:nvSpPr>
          <p:cNvPr id="4" name="TextBox 3"/>
          <p:cNvSpPr txBox="1"/>
          <p:nvPr/>
        </p:nvSpPr>
        <p:spPr>
          <a:xfrm>
            <a:off x="914400" y="3749039"/>
            <a:ext cx="8686800" cy="640080"/>
          </a:xfrm>
          <a:prstGeom prst="rect">
            <a:avLst/>
          </a:prstGeom>
          <a:noFill/>
        </p:spPr>
        <p:txBody>
          <a:bodyPr wrap="square">
            <a:spAutoFit/>
          </a:bodyPr>
          <a:lstStyle/>
          <a:p>
            <a:pPr algn="l"/>
            <a:r>
              <a:rPr sz="2000" b="0" i="0">
                <a:solidFill>
                  <a:srgbClr val="FFCC00"/>
                </a:solidFill>
                <a:latin typeface="Calibri"/>
              </a:rPr>
              <a:t>Yash Tiwari  ·  Chunjiang Liu  ·  Shivang Bhatt  ·  Yoko He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A</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Appendix: Supporting Detail</a:t>
            </a:r>
          </a:p>
        </p:txBody>
      </p:sp>
      <p:sp>
        <p:nvSpPr>
          <p:cNvPr id="6" name="TextBox 5"/>
          <p:cNvSpPr txBox="1"/>
          <p:nvPr/>
        </p:nvSpPr>
        <p:spPr>
          <a:xfrm>
            <a:off x="457200" y="1536192"/>
            <a:ext cx="5303520" cy="4617720"/>
          </a:xfrm>
          <a:prstGeom prst="rect">
            <a:avLst/>
          </a:prstGeom>
          <a:noFill/>
        </p:spPr>
        <p:txBody>
          <a:bodyPr wrap="square">
            <a:spAutoFit/>
          </a:bodyPr>
          <a:lstStyle/>
          <a:p>
            <a:pPr>
              <a:spcBef>
                <a:spcPts val="300"/>
              </a:spcBef>
            </a:pPr>
            <a:r>
              <a:rPr sz="1300" b="1">
                <a:solidFill>
                  <a:srgbClr val="333333"/>
                </a:solidFill>
                <a:latin typeface="Calibri"/>
              </a:rPr>
              <a:t>Roadmap:</a:t>
            </a:r>
          </a:p>
          <a:p>
            <a:pPr>
              <a:spcBef>
                <a:spcPts val="300"/>
              </a:spcBef>
            </a:pPr>
            <a:r>
              <a:rPr sz="1300" b="0">
                <a:solidFill>
                  <a:srgbClr val="333333"/>
                </a:solidFill>
                <a:latin typeface="Calibri"/>
              </a:rPr>
              <a:t>A-R1.  Project phases — scope, outputs, status</a:t>
            </a:r>
          </a:p>
          <a:p>
            <a:pPr>
              <a:spcBef>
                <a:spcPts val="300"/>
              </a:spcBef>
            </a:pPr>
            <a:r>
              <a:rPr sz="1300" b="0">
                <a:solidFill>
                  <a:srgbClr val="333333"/>
                </a:solidFill>
                <a:latin typeface="Calibri"/>
              </a:rPr>
              <a:t>A-R2.  Phase 2 milestones — what each one means</a:t>
            </a:r>
          </a:p>
          <a:p>
            <a:pPr>
              <a:spcBef>
                <a:spcPts val="300"/>
              </a:spcBef>
            </a:pPr>
            <a:r>
              <a:rPr sz="1300" b="0">
                <a:solidFill>
                  <a:srgbClr val="333333"/>
                </a:solidFill>
                <a:latin typeface="Calibri"/>
              </a:rPr>
              <a:t/>
            </a:r>
          </a:p>
          <a:p>
            <a:pPr>
              <a:spcBef>
                <a:spcPts val="300"/>
              </a:spcBef>
            </a:pPr>
            <a:r>
              <a:rPr sz="1300" b="1">
                <a:solidFill>
                  <a:srgbClr val="333333"/>
                </a:solidFill>
                <a:latin typeface="Calibri"/>
              </a:rPr>
              <a:t>Data &amp; EDA:</a:t>
            </a:r>
          </a:p>
          <a:p>
            <a:pPr>
              <a:spcBef>
                <a:spcPts val="300"/>
              </a:spcBef>
            </a:pPr>
            <a:r>
              <a:rPr sz="1300" b="0">
                <a:solidFill>
                  <a:srgbClr val="333333"/>
                </a:solidFill>
                <a:latin typeface="Calibri"/>
              </a:rPr>
              <a:t>A1.   Full SOURCE_GROUP → channel mapping with spend shares</a:t>
            </a:r>
          </a:p>
          <a:p>
            <a:pPr>
              <a:spcBef>
                <a:spcPts val="300"/>
              </a:spcBef>
            </a:pPr>
            <a:r>
              <a:rPr sz="1300" b="0">
                <a:solidFill>
                  <a:srgbClr val="333333"/>
                </a:solidFill>
                <a:latin typeface="Calibri"/>
              </a:rPr>
              <a:t>A2.   DSP vendor spend distribution (StackAdapt + Appvertiser)</a:t>
            </a:r>
          </a:p>
          <a:p>
            <a:pPr>
              <a:spcBef>
                <a:spcPts val="300"/>
              </a:spcBef>
            </a:pPr>
            <a:r>
              <a:rPr sz="1300" b="0">
                <a:solidFill>
                  <a:srgbClr val="333333"/>
                </a:solidFill>
                <a:latin typeface="Calibri"/>
              </a:rPr>
              <a:t>A3.   Channel mix composition over time</a:t>
            </a:r>
          </a:p>
          <a:p>
            <a:pPr>
              <a:spcBef>
                <a:spcPts val="300"/>
              </a:spcBef>
            </a:pPr>
            <a:r>
              <a:rPr sz="1300" b="0">
                <a:solidFill>
                  <a:srgbClr val="333333"/>
                </a:solidFill>
                <a:latin typeface="Calibri"/>
              </a:rPr>
              <a:t>A4.   Total daily spend trend</a:t>
            </a:r>
          </a:p>
          <a:p>
            <a:pPr>
              <a:spcBef>
                <a:spcPts val="300"/>
              </a:spcBef>
            </a:pPr>
            <a:r>
              <a:rPr sz="1300" b="0">
                <a:solidFill>
                  <a:srgbClr val="333333"/>
                </a:solidFill>
                <a:latin typeface="Calibri"/>
              </a:rPr>
              <a:t>A5.   Spend vs. conversions scatter</a:t>
            </a:r>
          </a:p>
          <a:p>
            <a:pPr>
              <a:spcBef>
                <a:spcPts val="300"/>
              </a:spcBef>
            </a:pPr>
            <a:r>
              <a:rPr sz="1300" b="0">
                <a:solidFill>
                  <a:srgbClr val="333333"/>
                </a:solidFill>
                <a:latin typeface="Calibri"/>
              </a:rPr>
              <a:t>A6.   LTV per conversion over time</a:t>
            </a:r>
          </a:p>
          <a:p>
            <a:pPr>
              <a:spcBef>
                <a:spcPts val="300"/>
              </a:spcBef>
            </a:pPr>
            <a:r>
              <a:rPr sz="1300" b="0">
                <a:solidFill>
                  <a:srgbClr val="333333"/>
                </a:solidFill>
                <a:latin typeface="Calibri"/>
              </a:rPr>
              <a:t>A7.   Seasonality index</a:t>
            </a:r>
          </a:p>
        </p:txBody>
      </p:sp>
      <p:sp>
        <p:nvSpPr>
          <p:cNvPr id="7" name="TextBox 6"/>
          <p:cNvSpPr txBox="1"/>
          <p:nvPr/>
        </p:nvSpPr>
        <p:spPr>
          <a:xfrm>
            <a:off x="6217920" y="1536192"/>
            <a:ext cx="5303520" cy="4617720"/>
          </a:xfrm>
          <a:prstGeom prst="rect">
            <a:avLst/>
          </a:prstGeom>
          <a:noFill/>
        </p:spPr>
        <p:txBody>
          <a:bodyPr wrap="square">
            <a:spAutoFit/>
          </a:bodyPr>
          <a:lstStyle/>
          <a:p>
            <a:pPr>
              <a:spcBef>
                <a:spcPts val="300"/>
              </a:spcBef>
            </a:pPr>
            <a:r>
              <a:rPr sz="1300" b="1">
                <a:solidFill>
                  <a:srgbClr val="182B48"/>
                </a:solidFill>
                <a:latin typeface="Calibri"/>
              </a:rPr>
              <a:t>Methodology &amp; Reference:</a:t>
            </a:r>
          </a:p>
          <a:p>
            <a:pPr>
              <a:spcBef>
                <a:spcPts val="300"/>
              </a:spcBef>
            </a:pPr>
            <a:r>
              <a:rPr sz="1300" b="0">
                <a:solidFill>
                  <a:srgbClr val="182B48"/>
                </a:solidFill>
                <a:latin typeface="Calibri"/>
              </a:rPr>
              <a:t>A8.   Framework comparison matrix — full detail</a:t>
            </a:r>
          </a:p>
          <a:p>
            <a:pPr>
              <a:spcBef>
                <a:spcPts val="300"/>
              </a:spcBef>
            </a:pPr>
            <a:r>
              <a:rPr sz="1300" b="0">
                <a:solidFill>
                  <a:srgbClr val="182B48"/>
                </a:solidFill>
                <a:latin typeface="Calibri"/>
              </a:rPr>
              <a:t>A9.   Incrementality test summary — iCAC, CI, conviction</a:t>
            </a:r>
          </a:p>
          <a:p>
            <a:pPr>
              <a:spcBef>
                <a:spcPts val="300"/>
              </a:spcBef>
            </a:pPr>
            <a:r>
              <a:rPr sz="1300" b="0">
                <a:solidFill>
                  <a:srgbClr val="182B48"/>
                </a:solidFill>
                <a:latin typeface="Calibri"/>
              </a:rPr>
              <a:t>A10.  Data quality register — findings and resolutions</a:t>
            </a:r>
          </a:p>
          <a:p>
            <a:pPr>
              <a:spcBef>
                <a:spcPts val="300"/>
              </a:spcBef>
            </a:pPr>
            <a:r>
              <a:rPr sz="1300" b="0">
                <a:solidFill>
                  <a:srgbClr val="182B48"/>
                </a:solidFill>
                <a:latin typeface="Calibri"/>
              </a:rPr>
              <a:t>A11.  MMM concept primer</a:t>
            </a:r>
          </a:p>
          <a:p>
            <a:pPr>
              <a:spcBef>
                <a:spcPts val="300"/>
              </a:spcBef>
            </a:pPr>
            <a:r>
              <a:rPr sz="1300" b="0">
                <a:solidFill>
                  <a:srgbClr val="182B48"/>
                </a:solidFill>
                <a:latin typeface="Calibri"/>
              </a:rPr>
              <a:t/>
            </a:r>
          </a:p>
          <a:p>
            <a:pPr>
              <a:spcBef>
                <a:spcPts val="300"/>
              </a:spcBef>
            </a:pPr>
            <a:r>
              <a:rPr sz="1300" b="1">
                <a:solidFill>
                  <a:srgbClr val="182B48"/>
                </a:solidFill>
                <a:latin typeface="Calibri"/>
              </a:rPr>
              <a:t>Slide References:</a:t>
            </a:r>
          </a:p>
          <a:p>
            <a:pPr>
              <a:spcBef>
                <a:spcPts val="300"/>
              </a:spcBef>
            </a:pPr>
            <a:r>
              <a:rPr sz="1300" b="0">
                <a:solidFill>
                  <a:srgbClr val="182B48"/>
                </a:solidFill>
                <a:latin typeface="Calibri"/>
              </a:rPr>
              <a:t>A-R1 → next slide</a:t>
            </a:r>
          </a:p>
          <a:p>
            <a:pPr>
              <a:spcBef>
                <a:spcPts val="300"/>
              </a:spcBef>
            </a:pPr>
            <a:r>
              <a:rPr sz="1300" b="0">
                <a:solidFill>
                  <a:srgbClr val="182B48"/>
                </a:solidFill>
                <a:latin typeface="Calibri"/>
              </a:rPr>
              <a:t>A-R2 → slide after A-R1</a:t>
            </a:r>
          </a:p>
          <a:p>
            <a:pPr>
              <a:spcBef>
                <a:spcPts val="300"/>
              </a:spcBef>
            </a:pPr>
            <a:r>
              <a:rPr sz="1300" b="0">
                <a:solidFill>
                  <a:srgbClr val="182B48"/>
                </a:solidFill>
                <a:latin typeface="Calibri"/>
              </a:rPr>
              <a:t>EDA charts → A-EDA-1 through A-EDA-3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A-EDA-1</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Channel Spend: Top 10 Channels Drive the Model</a:t>
            </a:r>
          </a:p>
        </p:txBody>
      </p:sp>
      <p:pic>
        <p:nvPicPr>
          <p:cNvPr id="6" name="Picture 5" descr="top_10_channels_spend.png"/>
          <p:cNvPicPr>
            <a:picLocks noChangeAspect="1"/>
          </p:cNvPicPr>
          <p:nvPr/>
        </p:nvPicPr>
        <p:blipFill>
          <a:blip r:embed="rId3"/>
          <a:stretch>
            <a:fillRect/>
          </a:stretch>
        </p:blipFill>
        <p:spPr>
          <a:xfrm>
            <a:off x="347472" y="1389888"/>
            <a:ext cx="11475720" cy="51663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A-EDA-2</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Spend &amp; Conversion Relationship Holds Across Channels</a:t>
            </a:r>
          </a:p>
        </p:txBody>
      </p:sp>
      <p:pic>
        <p:nvPicPr>
          <p:cNvPr id="6" name="Picture 5" descr="spend_vs_conversions_scatter.png"/>
          <p:cNvPicPr>
            <a:picLocks noChangeAspect="1"/>
          </p:cNvPicPr>
          <p:nvPr/>
        </p:nvPicPr>
        <p:blipFill>
          <a:blip r:embed="rId3"/>
          <a:stretch>
            <a:fillRect/>
          </a:stretch>
        </p:blipFill>
        <p:spPr>
          <a:xfrm>
            <a:off x="347472" y="1389888"/>
            <a:ext cx="5577840" cy="4846320"/>
          </a:xfrm>
          <a:prstGeom prst="rect">
            <a:avLst/>
          </a:prstGeom>
        </p:spPr>
      </p:pic>
      <p:sp>
        <p:nvSpPr>
          <p:cNvPr id="7" name="TextBox 6"/>
          <p:cNvSpPr txBox="1"/>
          <p:nvPr/>
        </p:nvSpPr>
        <p:spPr>
          <a:xfrm>
            <a:off x="347472" y="6272784"/>
            <a:ext cx="5577840" cy="274320"/>
          </a:xfrm>
          <a:prstGeom prst="rect">
            <a:avLst/>
          </a:prstGeom>
          <a:noFill/>
        </p:spPr>
        <p:txBody>
          <a:bodyPr wrap="square">
            <a:spAutoFit/>
          </a:bodyPr>
          <a:lstStyle/>
          <a:p>
            <a:pPr algn="l"/>
            <a:r>
              <a:rPr sz="900" b="0" i="1">
                <a:solidFill>
                  <a:srgbClr val="333333"/>
                </a:solidFill>
                <a:latin typeface="Calibri"/>
              </a:rPr>
              <a:t>r = 0.317  ·  modeling window  ·  same-day  (lag analysis r = 0.45, full date range — see slide 11)</a:t>
            </a:r>
          </a:p>
        </p:txBody>
      </p:sp>
      <p:pic>
        <p:nvPicPr>
          <p:cNvPr id="8" name="Picture 7" descr="ltv_per_conversion.png"/>
          <p:cNvPicPr>
            <a:picLocks noChangeAspect="1"/>
          </p:cNvPicPr>
          <p:nvPr/>
        </p:nvPicPr>
        <p:blipFill>
          <a:blip r:embed="rId4"/>
          <a:stretch>
            <a:fillRect/>
          </a:stretch>
        </p:blipFill>
        <p:spPr>
          <a:xfrm>
            <a:off x="5989320" y="1389888"/>
            <a:ext cx="5852160" cy="51663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A-EDA-3</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Seasonality Is Real — Tax Season and Mid-Year Show Distinct Patterns</a:t>
            </a:r>
          </a:p>
        </p:txBody>
      </p:sp>
      <p:pic>
        <p:nvPicPr>
          <p:cNvPr id="6" name="Picture 5" descr="monthly_seasonality.png"/>
          <p:cNvPicPr>
            <a:picLocks noChangeAspect="1"/>
          </p:cNvPicPr>
          <p:nvPr/>
        </p:nvPicPr>
        <p:blipFill>
          <a:blip r:embed="rId3"/>
          <a:stretch>
            <a:fillRect/>
          </a:stretch>
        </p:blipFill>
        <p:spPr>
          <a:xfrm>
            <a:off x="347472" y="1389888"/>
            <a:ext cx="5577840" cy="5166360"/>
          </a:xfrm>
          <a:prstGeom prst="rect">
            <a:avLst/>
          </a:prstGeom>
        </p:spPr>
      </p:pic>
      <p:pic>
        <p:nvPicPr>
          <p:cNvPr id="7" name="Picture 6" descr="total_daily_spend.png"/>
          <p:cNvPicPr>
            <a:picLocks noChangeAspect="1"/>
          </p:cNvPicPr>
          <p:nvPr/>
        </p:nvPicPr>
        <p:blipFill>
          <a:blip r:embed="rId4"/>
          <a:stretch>
            <a:fillRect/>
          </a:stretch>
        </p:blipFill>
        <p:spPr>
          <a:xfrm>
            <a:off x="5989320" y="1389888"/>
            <a:ext cx="5852160" cy="516636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A-R1</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Four Phases: Data Foundation → Model → Replicate → Deliver</a:t>
            </a:r>
          </a:p>
        </p:txBody>
      </p:sp>
      <p:sp>
        <p:nvSpPr>
          <p:cNvPr id="6" name="TextBox 5"/>
          <p:cNvSpPr txBox="1"/>
          <p:nvPr/>
        </p:nvSpPr>
        <p:spPr>
          <a:xfrm>
            <a:off x="457200" y="1417320"/>
            <a:ext cx="11247120" cy="457200"/>
          </a:xfrm>
          <a:prstGeom prst="rect">
            <a:avLst/>
          </a:prstGeom>
          <a:noFill/>
        </p:spPr>
        <p:txBody>
          <a:bodyPr wrap="square">
            <a:spAutoFit/>
          </a:bodyPr>
          <a:lstStyle/>
          <a:p>
            <a:pPr algn="l"/>
            <a:r>
              <a:rPr sz="1200" b="0" i="1">
                <a:solidFill>
                  <a:srgbClr val="333333"/>
                </a:solidFill>
                <a:latin typeface="Calibri"/>
              </a:rPr>
              <a:t>Green = complete  ·  Yellow = in progress  ·  White = not started</a:t>
            </a:r>
          </a:p>
        </p:txBody>
      </p:sp>
      <p:pic>
        <p:nvPicPr>
          <p:cNvPr id="7" name="Picture 6" descr="appendix_phases.png"/>
          <p:cNvPicPr>
            <a:picLocks noChangeAspect="1"/>
          </p:cNvPicPr>
          <p:nvPr/>
        </p:nvPicPr>
        <p:blipFill>
          <a:blip r:embed="rId3"/>
          <a:stretch>
            <a:fillRect/>
          </a:stretch>
        </p:blipFill>
        <p:spPr>
          <a:xfrm>
            <a:off x="347472" y="1920240"/>
            <a:ext cx="11475720" cy="4572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A-R2</a:t>
            </a:r>
          </a:p>
        </p:txBody>
      </p:sp>
      <p:sp>
        <p:nvSpPr>
          <p:cNvPr id="5" name="TextBox 4"/>
          <p:cNvSpPr txBox="1"/>
          <p:nvPr/>
        </p:nvSpPr>
        <p:spPr>
          <a:xfrm>
            <a:off x="457200" y="795528"/>
            <a:ext cx="8686800" cy="594360"/>
          </a:xfrm>
          <a:prstGeom prst="rect">
            <a:avLst/>
          </a:prstGeom>
          <a:noFill/>
        </p:spPr>
        <p:txBody>
          <a:bodyPr wrap="square">
            <a:spAutoFit/>
          </a:bodyPr>
          <a:lstStyle/>
          <a:p>
            <a:pPr algn="l"/>
            <a:r>
              <a:rPr sz="2100" b="1" i="0">
                <a:solidFill>
                  <a:srgbClr val="182B48"/>
                </a:solidFill>
                <a:latin typeface="Calibri"/>
              </a:rPr>
              <a:t>Phase 2 Has Six Milestones — M1 and M2 Complete, M3 Active</a:t>
            </a:r>
          </a:p>
        </p:txBody>
      </p:sp>
      <p:sp>
        <p:nvSpPr>
          <p:cNvPr id="6" name="TextBox 5"/>
          <p:cNvSpPr txBox="1"/>
          <p:nvPr/>
        </p:nvSpPr>
        <p:spPr>
          <a:xfrm>
            <a:off x="457200" y="1417320"/>
            <a:ext cx="11247120" cy="457200"/>
          </a:xfrm>
          <a:prstGeom prst="rect">
            <a:avLst/>
          </a:prstGeom>
          <a:noFill/>
        </p:spPr>
        <p:txBody>
          <a:bodyPr wrap="square">
            <a:spAutoFit/>
          </a:bodyPr>
          <a:lstStyle/>
          <a:p>
            <a:pPr algn="l"/>
            <a:r>
              <a:rPr sz="1200" b="0" i="1">
                <a:solidFill>
                  <a:srgbClr val="333333"/>
                </a:solidFill>
                <a:latin typeface="Calibri"/>
              </a:rPr>
              <a:t>Green = complete  ·  Yellow = in progress  ·  White = queued</a:t>
            </a:r>
          </a:p>
        </p:txBody>
      </p:sp>
      <p:pic>
        <p:nvPicPr>
          <p:cNvPr id="7" name="Picture 6" descr="appendix_milestones.png"/>
          <p:cNvPicPr>
            <a:picLocks noChangeAspect="1"/>
          </p:cNvPicPr>
          <p:nvPr/>
        </p:nvPicPr>
        <p:blipFill>
          <a:blip r:embed="rId3"/>
          <a:stretch>
            <a:fillRect/>
          </a:stretch>
        </p:blipFill>
        <p:spPr>
          <a:xfrm>
            <a:off x="347472" y="1920240"/>
            <a:ext cx="11475720" cy="4572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