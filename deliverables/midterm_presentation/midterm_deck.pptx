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Marketing Mix Modeling
for Kikoff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CC00"/>
                </a:solidFill>
                <a:latin typeface="Calibri"/>
              </a:rPr>
              <a:t>Rady School of Management  ·  MSBA Capstone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Chunjiang Liu  |  Shivang Bhatt  |  Yash Tiwari  |  Yoko 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CC00"/>
                </a:solidFill>
                <a:latin typeface="Calibri"/>
              </a:rPr>
              <a:t>Sponsor: Abheek Sinha, Kikoff  ·  Supervisor: Keith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72768"/>
            <a:ext cx="347472" cy="347472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B4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6184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Who are we?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322576"/>
            <a:ext cx="347472" cy="347472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5000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B48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6829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Executive Summary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072384"/>
            <a:ext cx="347472" cy="347472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9815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B4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118103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Business Problem &amp; Organization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822191"/>
            <a:ext cx="347472" cy="347472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49624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B4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867911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Data Overview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4572000"/>
            <a:ext cx="347472" cy="347472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99432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B48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61772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Deliverables &amp; Evaluation Criteria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321807"/>
            <a:ext cx="347472" cy="347472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B48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5367527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Solution Path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1572768"/>
            <a:ext cx="347472" cy="347472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60020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B48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7" y="16184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Results &amp; Findings to Date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2322576"/>
            <a:ext cx="347472" cy="347472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35000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B48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9127" y="236829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Analytics Strategy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072384"/>
            <a:ext cx="347472" cy="347472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099815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B48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9127" y="3118103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Recommendations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822191"/>
            <a:ext cx="347472" cy="347472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849624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B48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9127" y="3867911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572000"/>
            <a:ext cx="347472" cy="347472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599432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B48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7" y="461772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Q&amp;A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5321807"/>
            <a:ext cx="347472" cy="347472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534924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B48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39127" y="5367527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Appendix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/>
            </a:r>
          </a:p>
        </p:txBody>
      </p:sp>
      <p:pic>
        <p:nvPicPr>
          <p:cNvPr id="6" name="Picture 5" descr="Draft_MMM_kikoff.ppt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114300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Phase 1 Complete, POC Converged — Facebook-iOS Is Efficient; Web and Android Are Not</a:t>
            </a:r>
          </a:p>
        </p:txBody>
      </p:sp>
      <p:pic>
        <p:nvPicPr>
          <p:cNvPr id="6" name="Picture 5" descr="slide_04_exec_summary_ic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113385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Kikoff Invests $113M Annually With No Holistic Attribution</a:t>
            </a:r>
          </a:p>
        </p:txBody>
      </p:sp>
      <p:pic>
        <p:nvPicPr>
          <p:cNvPr id="6" name="Picture 5" descr="slide_05_attributi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113385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Daily Spend and Outcomes Across 13 Channels — 5 Quality Issues Resolved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2560320" cy="1371600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CC00"/>
                </a:solidFill>
                <a:latin typeface="Calibri"/>
              </a:rPr>
              <a:t>639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Daily observations
2024-07-01 to 2026-03-31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572768"/>
            <a:ext cx="2560320" cy="1371600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664208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CC00"/>
                </a:solidFill>
                <a:latin typeface="Calibr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22576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Modeled channels
Meta, TikTok, Google + 10 more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72768"/>
            <a:ext cx="2560320" cy="1371600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64208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CC00"/>
                </a:solidFill>
                <a:latin typeface="Calibri"/>
              </a:rPr>
              <a:t>$132K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22576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Avg daily spend
($0–$300K+ range)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572768"/>
            <a:ext cx="2560320" cy="1371600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664208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CC00"/>
                </a:solidFill>
                <a:latin typeface="Calibri"/>
              </a:rPr>
              <a:t>2,560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322576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Mean daily conversions
(peak: 4,354 on 2025-05-30)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73552"/>
            <a:ext cx="11155680" cy="347472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19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Data Issue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319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Action Taken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319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39312"/>
            <a:ext cx="11155680" cy="53035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71246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LTV anomalies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712463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Imputation for 2025-10-21–24 window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712463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✓ |z| max = 0.85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6110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Platform typos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26110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"iso"→iOS; "web and app"→web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6110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✓ 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36592"/>
            <a:ext cx="11155680" cy="53035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80974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DSP channel mapping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80974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15 SOURCE_GROUPs → 13 canonical 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0974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✓ 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5838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StackAdapt row 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5358383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341 rows in window (threshold: &gt;30)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358383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✓ 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33872"/>
            <a:ext cx="11155680" cy="53035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0702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Date filter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590702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2024-07-01 to 2026-03-31 enforced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90702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✓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We're Building ICAC and ROAS Curves That Turn Spend Into Decisions</a:t>
            </a:r>
          </a:p>
        </p:txBody>
      </p:sp>
      <p:pic>
        <p:nvPicPr>
          <p:cNvPr id="6" name="Picture 5" descr="slide_07_output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113385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Evaluation Criteria: How We Selected Our Modeling Framework</a:t>
            </a:r>
          </a:p>
        </p:txBody>
      </p:sp>
      <p:pic>
        <p:nvPicPr>
          <p:cNvPr id="6" name="Picture 5" descr="slide_08_framework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113385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Results &amp; Findings to Date — Channel Spend Concentration</a:t>
            </a:r>
          </a:p>
        </p:txBody>
      </p:sp>
      <p:pic>
        <p:nvPicPr>
          <p:cNvPr id="6" name="Picture 5" descr="channel_composition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44752"/>
            <a:ext cx="1133856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0350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2B48"/>
                </a:solidFill>
                <a:latin typeface="Calibri"/>
              </a:rPr>
              <a:t>Facebook: $41.5M (37%)   TikTok: $23.4M (21%)   Google: $17.6M (16%)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82B48"/>
                </a:solidFill>
                <a:latin typeface="Calibri"/>
              </a:rPr>
              <a:t>Top 3 channels = 73% of $113M total spend   |   10 channels share remaining 27%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Results &amp; Findings to Date — Seasonality and Conversion Patterns</a:t>
            </a:r>
          </a:p>
        </p:txBody>
      </p:sp>
      <p:pic>
        <p:nvPicPr>
          <p:cNvPr id="6" name="Picture 5" descr="monthly_season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44752"/>
            <a:ext cx="5394960" cy="4297680"/>
          </a:xfrm>
          <a:prstGeom prst="rect">
            <a:avLst/>
          </a:prstGeom>
        </p:spPr>
      </p:pic>
      <p:pic>
        <p:nvPicPr>
          <p:cNvPr id="7" name="Picture 6" descr="conversions_and_re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444752"/>
            <a:ext cx="557784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833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Conversions peak in tax season (March–April); trough Nov–Dec — consistent with credit product demand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Spend-to-conversion lag = 0 days (r = 0.45) — media effects materialize quickly; adstock decay is short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Analytics Strategy: PyMC-Marketing Pipeline</a:t>
            </a:r>
          </a:p>
        </p:txBody>
      </p:sp>
      <p:pic>
        <p:nvPicPr>
          <p:cNvPr id="6" name="Picture 5" descr="slide_11_model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113385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How Model Outputs Become Budget Decisions — The Decisioning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474720" cy="420624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36776"/>
            <a:ext cx="32552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C00"/>
                </a:solidFill>
                <a:latin typeface="Calibri"/>
              </a:rPr>
              <a:t>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66544"/>
            <a:ext cx="3291839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Is iCAC improving, flat, or declining over time?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3291839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Is current spend approaching the saturation point?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3291839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Is iROAS above or below the efficiency threshold?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41648"/>
            <a:ext cx="3291839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How does performance vary across iOS / Web / Android?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42232" y="1554480"/>
            <a:ext cx="3474720" cy="420624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636776"/>
            <a:ext cx="32552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C00"/>
                </a:solidFill>
                <a:latin typeface="Calibri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2066544"/>
            <a:ext cx="3291839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✓ Scale — iCAC declining, iROAS &gt; 1.5x, below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2724912"/>
            <a:ext cx="3291839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⏸ Hold — iCAC flat or marginal, near saturation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3383280"/>
            <a:ext cx="3291839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⚠ Investigate — iCAC rising rapidly or iROAS &lt; 1x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4041648"/>
            <a:ext cx="3291839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🔬 Test — no incrementality data; run holdout before scaling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27264" y="1554480"/>
            <a:ext cx="3474720" cy="42062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636776"/>
            <a:ext cx="32552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B48"/>
                </a:solidFill>
                <a:latin typeface="Calibri"/>
              </a:rPr>
              <a:t>What We're Building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2066544"/>
            <a:ext cx="3291839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ICAC + ROAS response curves per channel ×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8704" y="2724912"/>
            <a:ext cx="3291839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Saturation read: where diminishing returns kick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18704" y="3383280"/>
            <a:ext cx="3291839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Seasonal modifiers: tax season / holiday / steady-state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8704" y="4041648"/>
            <a:ext cx="3291839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Full decisioning table — all 13 channels by June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053328"/>
            <a:ext cx="11155680" cy="4754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0899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Model run in progress — full ICAC/ROAS results will be presented at the final 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Phase 2 Is Running — Full Decisioning Package Delivered by June 6</a:t>
            </a:r>
          </a:p>
        </p:txBody>
      </p:sp>
      <p:pic>
        <p:nvPicPr>
          <p:cNvPr id="6" name="Picture 5" descr="slide_13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113385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CC00"/>
                </a:solidFill>
                <a:latin typeface="Calibri"/>
              </a:rPr>
              <a:t>Supporting charts, tables, and model diagnostics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Appendix A1 — Model Fit: Posterior Predictive Check</a:t>
            </a:r>
          </a:p>
        </p:txBody>
      </p:sp>
      <p:pic>
        <p:nvPicPr>
          <p:cNvPr id="6" name="Picture 5" descr="posterior_predictiv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44752"/>
            <a:ext cx="1133856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Blue band = 94% HDI of posterior predictive distribution  ·  Orange line = observed conversions  ·  Good overlap = adequate model fit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Appendix A2 — MCMC Convergence: Trace Plots</a:t>
            </a:r>
          </a:p>
        </p:txBody>
      </p:sp>
      <p:pic>
        <p:nvPicPr>
          <p:cNvPr id="6" name="Picture 5" descr="trace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44752"/>
            <a:ext cx="1133856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R-hat max = 1.0 (pass &lt; 1.1)  ·  ESS min = 578 (pass &gt; 400)  ·  Chains well-mixed — no divergences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Appendix A3 — Channel Taxonomy (13 Modeled Channels)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81328"/>
            <a:ext cx="11155680" cy="347472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179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SOURCE_GROUP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179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Canonical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5179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Model Treatment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836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facebook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836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836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iOS / Android / Web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67128"/>
            <a:ext cx="11155680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037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google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2037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Google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2037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iOS / Android /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5237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tiktok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5237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TikTok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5237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iOS / Android / Web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07208"/>
            <a:ext cx="11155680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437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applovin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8437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DSP: Applovin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8437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Separate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638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liftoff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1638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DSP: Liftoff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1638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Separate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47288"/>
            <a:ext cx="11155680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4838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Inmobidsp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4838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DSP: InMobi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4838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Separate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80390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Stackadapt +
Appvertiser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80390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DSP: Combined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80390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Grouped (D004)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087368"/>
            <a:ext cx="11155680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1239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linear_tv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1239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Linear TV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1239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Separate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4439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ctv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4439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CTV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4439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Separate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727448"/>
            <a:ext cx="11155680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7640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podcast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7640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Podcast / Audio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7640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Separate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0840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apple_search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50840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Apple Search Ads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50840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Separate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367527"/>
            <a:ext cx="11155680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40410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influencer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540410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Influencers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540410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Separate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72414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bing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572414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(excluded)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572414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Dropped — too small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007608"/>
            <a:ext cx="11155680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60441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Others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0" y="60441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(excluded)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60441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Erroneous data removed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Appendix A4 — Incrementality Tests Used as Model Priors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81328"/>
            <a:ext cx="11155680" cy="347472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179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5179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5179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Test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5179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iCAC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75104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TikTok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975104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Aug–Sep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975104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User-level holdout (high conviction)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975104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iOS $108.83 / Android $81.68 / Web $112.12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11155680" cy="8046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98064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Meta May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798064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May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798064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3-cell design (reach restricted)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798064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iOS $135.48 / Android $63.06 / Web $156.89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21024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Meta Jan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621024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Jan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621024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Cancelled — use with wide 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21024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iOS $1,350 / Android $154.52 / Web $239.75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11155680" cy="8046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43984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CTV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443984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Oct–Nov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443984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Geo holdout (lower conviction)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443984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All platforms: $135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Appendix A5 — Channel Contributions (Facebook POC)</a:t>
            </a:r>
          </a:p>
        </p:txBody>
      </p:sp>
      <p:pic>
        <p:nvPicPr>
          <p:cNvPr id="6" name="Picture 5" descr="channel_con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44752"/>
            <a:ext cx="113385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537960"/>
            <a:ext cx="274320" cy="29260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6547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00"/>
                </a:solidFill>
                <a:latin typeface="Calibri"/>
              </a:rPr>
              <a:t>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55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B48"/>
                </a:solidFill>
                <a:latin typeface="Calibri"/>
              </a:rPr>
              <a:t>Appendix A6 — Spend vs. Conversions Scatter</a:t>
            </a:r>
          </a:p>
        </p:txBody>
      </p:sp>
      <p:pic>
        <p:nvPicPr>
          <p:cNvPr id="6" name="Picture 5" descr="spend_vs_conversions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44752"/>
            <a:ext cx="11338560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